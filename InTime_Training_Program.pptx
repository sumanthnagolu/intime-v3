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185" d="100"/>
          <a:sy n="185" d="100"/>
        </p:scale>
        <p:origin x="184" y="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1"/>
                </a:solidFill>
                <a:latin typeface="Calibri"/>
              </a:defRPr>
            </a:pPr>
            <a:r>
              <a:t>I N T I M E   A C A D E M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How Our Training</a:t>
            </a:r>
            <a:br/>
            <a:r>
              <a:t>Program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3A3A3"/>
                </a:solidFill>
                <a:latin typeface="Calibri"/>
              </a:defRPr>
            </a:pPr>
            <a:r>
              <a:t>The methodology, the structure, and the Guidewire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alibri"/>
              </a:defRPr>
            </a:pPr>
            <a:r>
              <a:t>Internal Team Briefing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WHY WE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1717"/>
                </a:solidFill>
                <a:latin typeface="Calibri"/>
              </a:defRPr>
            </a:pPr>
            <a:r>
              <a:t>Traditional IT Training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Every other training program has the same problems. We designed ours to fix all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Group Classes</a:t>
            </a:r>
            <a:br/>
            <a:r>
              <a:t>Skip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Trainer covers 60-70% of syllabus.</a:t>
            </a:r>
            <a:br/>
            <a:r>
              <a:t>Runs out of time, skips 'less important'</a:t>
            </a:r>
            <a:br/>
            <a:r>
              <a:t>topics. Students have gaps.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2423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OUR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A8754"/>
                </a:solidFill>
                <a:latin typeface="Calibri"/>
              </a:defRPr>
            </a:pPr>
            <a:r>
              <a:t>We cover 100%.</a:t>
            </a:r>
            <a:br/>
            <a:r>
              <a:t>Every lesson. Every topic.</a:t>
            </a:r>
            <a:br/>
            <a:r>
              <a:t>No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Theory Heavy,</a:t>
            </a:r>
            <a:br/>
            <a:r>
              <a:t>No Real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Students learn concepts but never</a:t>
            </a:r>
            <a:br/>
            <a:r>
              <a:t>build anything real. Can't answer</a:t>
            </a:r>
            <a:br/>
            <a:r>
              <a:t>'tell me about your project' in interviews.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3657600"/>
            <a:ext cx="2423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3703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OUR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86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A8754"/>
                </a:solidFill>
                <a:latin typeface="Calibri"/>
              </a:defRPr>
            </a:pPr>
            <a:r>
              <a:t>Our labs ARE the project.</a:t>
            </a:r>
            <a:br/>
            <a:r>
              <a:t>Each assignment builds on previous.</a:t>
            </a:r>
            <a:br/>
            <a:r>
              <a:t>Students build a full implementation.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One Pace</a:t>
            </a:r>
            <a:br/>
            <a:r>
              <a:t>Fits 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51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Fast learners bored. Slow learners lost.</a:t>
            </a:r>
            <a:br/>
            <a:r>
              <a:t>Busy US/Canada students miss sessions</a:t>
            </a:r>
            <a:br/>
            <a:r>
              <a:t>and fall behind permanently.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57600"/>
            <a:ext cx="2423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OUR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86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A8754"/>
                </a:solidFill>
                <a:latin typeface="Calibri"/>
              </a:defRPr>
            </a:pPr>
            <a:r>
              <a:t>Self-paced option for busy people.</a:t>
            </a:r>
            <a:br/>
            <a:r>
              <a:t>Live group option for structure.</a:t>
            </a:r>
            <a:br/>
            <a:r>
              <a:t>Both complete 100% of material.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10312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No Interview</a:t>
            </a:r>
            <a:br/>
            <a:r>
              <a:t>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651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Students know Guidewire but can't</a:t>
            </a:r>
            <a:br/>
            <a:r>
              <a:t>articulate it in interviews. No resume</a:t>
            </a:r>
            <a:br/>
            <a:r>
              <a:t>building, no mock interviews.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3657600"/>
            <a:ext cx="2423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3703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OUR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886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A8754"/>
                </a:solidFill>
                <a:latin typeface="Calibri"/>
              </a:defRPr>
            </a:pPr>
            <a:r>
              <a:t>Profile created. Custom project</a:t>
            </a:r>
            <a:br/>
            <a:r>
              <a:t>assigned. Interview questions after</a:t>
            </a:r>
            <a:br/>
            <a:r>
              <a:t>every lesson. Mock interview prep.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Bottom line: Our students finish knowing MORE than people with 1-2 years of real experience,</a:t>
            </a:r>
            <a:br/>
            <a:r>
              <a:t>because they've touched every part of the system systematically.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THE INTIME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100+ Sequential Lessons.</a:t>
            </a:r>
            <a:br/>
            <a:r>
              <a:t>One Full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3A3A3"/>
                </a:solidFill>
                <a:latin typeface="Calibri"/>
              </a:defRPr>
            </a:pPr>
            <a:r>
              <a:t>We broke down the entire technology into sequential lessons. Each lesson has 4 components. All assignments connect into one full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880360"/>
            <a:ext cx="411480" cy="4114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EXPLANATION</a:t>
            </a:r>
            <a:br/>
            <a:r>
              <a:t>PPT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01568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Detailed slide deck explaining</a:t>
            </a:r>
            <a:br/>
            <a:r>
              <a:t>the concept with diagrams,</a:t>
            </a:r>
            <a:br/>
            <a:r>
              <a:t>architecture, and examples.</a:t>
            </a:r>
            <a:br/>
            <a:br/>
            <a:r>
              <a:t>Students read and understand</a:t>
            </a:r>
            <a:br/>
            <a:r>
              <a:t>the theory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74320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74720" y="2880360"/>
            <a:ext cx="411480" cy="41148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880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alibri"/>
              </a:defRPr>
            </a:pPr>
            <a:r>
              <a:t>DEMO</a:t>
            </a:r>
            <a:br/>
            <a:r>
              <a:t>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401568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Embedded video showing</a:t>
            </a:r>
            <a:br/>
            <a:r>
              <a:t>exactly how it works.</a:t>
            </a:r>
            <a:br/>
            <a:r>
              <a:t>Step-by-step walkthrough.</a:t>
            </a:r>
            <a:br/>
            <a:br/>
            <a:r>
              <a:t>Students see it done before</a:t>
            </a:r>
            <a:br/>
            <a:r>
              <a:t>they try it themselves.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74320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2880360"/>
            <a:ext cx="411480" cy="411480"/>
          </a:xfrm>
          <a:prstGeom prst="ellipse">
            <a:avLst/>
          </a:prstGeom>
          <a:solidFill>
            <a:srgbClr val="0A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80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754"/>
                </a:solidFill>
                <a:latin typeface="Calibri"/>
              </a:defRPr>
            </a:pPr>
            <a:r>
              <a:t>INTERVIEW</a:t>
            </a:r>
            <a:br/>
            <a:r>
              <a:t>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401568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34747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Real interview questions for</a:t>
            </a:r>
            <a:br/>
            <a:r>
              <a:t>this specific topic.</a:t>
            </a:r>
            <a:br/>
            <a:r>
              <a:t>Students practice answering.</a:t>
            </a:r>
            <a:br/>
            <a:br/>
            <a:r>
              <a:t>By the end, they've covered</a:t>
            </a:r>
            <a:br/>
            <a:r>
              <a:t>500+ interview questions.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274320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69680" y="288036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880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HANDS-ON</a:t>
            </a:r>
            <a:br/>
            <a:r>
              <a:t>ASSIGNMENT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401568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34747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Practical lab exercise.</a:t>
            </a:r>
            <a:br/>
            <a:r>
              <a:t>Build that feature in</a:t>
            </a:r>
            <a:br/>
            <a:r>
              <a:t>the project environment.</a:t>
            </a:r>
            <a:br/>
            <a:br/>
            <a:r>
              <a:t>Each assignment is a user story</a:t>
            </a:r>
            <a:br/>
            <a:r>
              <a:t>in the full project.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Every single lesson follows this pattern. No lesson is theory-only. No lesson skips interview prep.</a:t>
            </a:r>
            <a:br/>
            <a:r>
              <a:t>By the time a student finishes, they've built a complete project AND prepared for every possible interview question.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PROJECT-BASED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Labs = Full Project. Modules = Epics. Lessons = User Stories.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Calibri"/>
              </a:defRPr>
            </a:pPr>
            <a:r>
              <a:t>Think of it like building software with Agile. The entire training IS one implementation project. Each module is an epic. Each lesson's assignment is a user story that adds to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DF8ED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B4A"/>
                </a:solidFill>
                <a:latin typeface="Calibri"/>
              </a:defRPr>
            </a:pPr>
            <a:r>
              <a:t>THE FULL PROJECT (Example: Insurance Company Implementation)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424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Student builds a complete insurance application from scratch. Every assignment adds a real feature. By Day 40, they have a working system with policies, claims, users, rules, integrations - everything.</a:t>
            </a:r>
            <a:br/>
            <a:r>
              <a:t>When an interviewer asks 'Tell me about your project,' they have a REAL answer with REAL implementation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4564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EPIC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PolicyCenter</a:t>
            </a:r>
            <a:br/>
            <a: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56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1-9</a:t>
            </a:r>
            <a:br/>
            <a:r>
              <a:t>~18 lessons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330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1879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Set up accounts, create policies,</a:t>
            </a:r>
            <a:br/>
            <a:r>
              <a:t>submissions, renewals, cancellations,</a:t>
            </a:r>
            <a:br/>
            <a:r>
              <a:t>users, roles, product model,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3832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4564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EPIC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ClaimCenter</a:t>
            </a:r>
            <a:br/>
            <a: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456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10-13</a:t>
            </a:r>
            <a:br/>
            <a:r>
              <a:t>~16 lessons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1330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41879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Claims process, intake, setup,</a:t>
            </a:r>
            <a:br/>
            <a:r>
              <a:t>adjudication, financials, payments,</a:t>
            </a:r>
            <a:br/>
            <a:r>
              <a:t>contacts, vendors, service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3832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34564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EPIC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Developer</a:t>
            </a:r>
            <a:br/>
            <a:r>
              <a:t>Fundamentals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456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14-20</a:t>
            </a:r>
            <a:br/>
            <a:r>
              <a:t>~25 lessons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41330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41879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Configuration, data model, Gosu,</a:t>
            </a:r>
            <a:br/>
            <a:r>
              <a:t>UI architecture, widgets, views,</a:t>
            </a:r>
            <a:br/>
            <a:r>
              <a:t>entities, typelists, popups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0566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EPIC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ClaimCenter</a:t>
            </a:r>
            <a:br/>
            <a:r>
              <a:t>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56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21-26</a:t>
            </a:r>
            <a:br/>
            <a:r>
              <a:t>~17 lessons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7332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7881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UI config, Gosu rules, assignment</a:t>
            </a:r>
            <a:br/>
            <a:r>
              <a:t>rules, financials config, search,</a:t>
            </a:r>
            <a:br/>
            <a:r>
              <a:t>permissions, activities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9834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50566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EPIC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257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PolicyCenter</a:t>
            </a:r>
            <a:br/>
            <a:r>
              <a:t>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5056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27-30</a:t>
            </a:r>
            <a:br/>
            <a:r>
              <a:t>~14 lessons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57332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97680" y="57881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Data model, wizards, revisioning,</a:t>
            </a:r>
            <a:br/>
            <a:r>
              <a:t>underwriting issues, permissions,</a:t>
            </a:r>
            <a:br/>
            <a:r>
              <a:t>activities, job lifecycle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9834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50566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EPIC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5257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056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Days 31-40</a:t>
            </a:r>
            <a:br/>
            <a:r>
              <a:t>~21 lessons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5733288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09560" y="57881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REST/SOAP APIs, plugins, messaging,</a:t>
            </a:r>
            <a:br/>
            <a:r>
              <a:t>bundles, queries, templates,</a:t>
            </a:r>
            <a:br/>
            <a:r>
              <a:t>batch processes, 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Doing assignments itself IS the huge project. Students don't realize they've built a full system until it's done.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DELIVERY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Two Ways to Deliver the Same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Same 100+ lessons. Same assignments. Same project. Different pacing to suit different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789920" cy="731520"/>
          </a:xfrm>
          <a:prstGeom prst="roundRect">
            <a:avLst>
              <a:gd name="adj" fmla="val 5000"/>
            </a:avLst>
          </a:prstGeom>
          <a:solidFill>
            <a:srgbClr val="FDF8ED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8B4A"/>
                </a:solidFill>
                <a:latin typeface="Calibri"/>
              </a:defRPr>
            </a:pPr>
            <a:r>
              <a:t>BOTH MODELS: DEDICATED COORDINATOR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Every student is assigned a dedicated coordinator on Day 1. They handle scheduling, progress tracking, trainer assignments, and are the student's single point of contact throughout the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369A1"/>
                </a:solidFill>
                <a:latin typeface="Calibri"/>
              </a:defRPr>
            </a:pPr>
            <a:r>
              <a:t>MODEL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1717"/>
                </a:solidFill>
                <a:latin typeface="Calibri"/>
              </a:defRPr>
            </a:pPr>
            <a:r>
              <a:t>Self-Paced + 20 Hrs Live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DESIGNED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Busy US/Canada resources who can't attend fixed-time classes. Working professionals.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Student gets access to all 100+ lessons on our platform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Goes through lessons at their own pace (PPT → Video → Q&amp;A → Assignment)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Assignments build on each other = full project grows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Coordinator tracks progress and answers logistics questions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After completing self-paced material: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   → 20 hours of live 1-on-1 trainer sessions (2 hrs/day, ~2 weeks)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   → Blocker resolution, project guidance, interview prep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   → Mock interviews and profile finalization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69A1"/>
                </a:solidFill>
                <a:latin typeface="Calibri"/>
              </a:defRPr>
            </a:pPr>
            <a:r>
              <a:t>KEY ADVANTAGE: 100% material covered at own pace.</a:t>
            </a:r>
            <a:br/>
            <a:r>
              <a:t>20 hrs live trainer ensures mastery + interview readiness.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8754"/>
                </a:solidFill>
                <a:latin typeface="Calibri"/>
              </a:defRPr>
            </a:pPr>
            <a:r>
              <a:t>MODEL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1717"/>
                </a:solidFill>
                <a:latin typeface="Calibri"/>
              </a:defRPr>
            </a:pPr>
            <a:r>
              <a:t>80 Hrs Live Group (8 Weeks)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DESIGNED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Students who need structure, accountability, and daily live interaction with a trainer.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39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80 hours total: 2 hours/day live sessions over 8 weeks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Profile created Day 1, custom project assigned Day 1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Trainer assigns lessons as homework after each session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Students study material + complete assignments before next session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Come to live session with questions and blockers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Trainer discusses, unblocks, guides project work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Must stay in sync — completing homework keeps pace with group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Interview prep integrated throughout the 8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8754"/>
                </a:solidFill>
                <a:latin typeface="Calibri"/>
              </a:defRPr>
            </a:pPr>
            <a:r>
              <a:t>KEY ADVANTAGE: Daily accountability + live interaction.</a:t>
            </a:r>
            <a:br/>
            <a:r>
              <a:t>8 weeks of structured trainer-led guidance.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MODEL A: SELF-PACED + 20 HRS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Self-Paced Learning → 20 Hours Live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Calibri"/>
              </a:defRPr>
            </a:pPr>
            <a:r>
              <a:t>Student completes all material at their own pace, then gets 2 weeks of dedicated 1-on-1 trainer time (2 hrs/day).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ENROLL &amp;</a:t>
            </a:r>
            <a:br/>
            <a:r>
              <a:t>COORDINATOR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Student enrolls.</a:t>
            </a:r>
            <a:br/>
            <a:r>
              <a:t>Dedicated coordinator</a:t>
            </a:r>
            <a:br/>
            <a:r>
              <a:t>assigned. Platform</a:t>
            </a:r>
            <a:br/>
            <a:r>
              <a:t>access to all 100+</a:t>
            </a:r>
            <a:br/>
            <a:r>
              <a:t>lessons.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29968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29968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8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29968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Goes through lessons</a:t>
            </a:r>
            <a:br/>
            <a:r>
              <a:t>sequentially at own</a:t>
            </a:r>
            <a:br/>
            <a:r>
              <a:t>pace. PPT → Video →</a:t>
            </a:r>
            <a:br/>
            <a:r>
              <a:t>Interview Q's →</a:t>
            </a:r>
            <a:br/>
            <a:r>
              <a:t>Assignment.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Own 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1296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02736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02736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BUILD</a:t>
            </a:r>
            <a:br/>
            <a:r>
              <a:t>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2736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2736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Completes assignment</a:t>
            </a:r>
            <a:br/>
            <a:r>
              <a:t>for each lesson.</a:t>
            </a:r>
            <a:br/>
            <a:r>
              <a:t>Assignments connect</a:t>
            </a:r>
            <a:br/>
            <a:r>
              <a:t>into one full project</a:t>
            </a:r>
            <a:br/>
            <a:r>
              <a:t>that grows daily.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Own 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175504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75504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COMPLETE</a:t>
            </a:r>
            <a:br/>
            <a:r>
              <a:t>MATERIAL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75504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75504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Finishes all 100+</a:t>
            </a:r>
            <a:br/>
            <a:r>
              <a:t>lessons and all</a:t>
            </a:r>
            <a:br/>
            <a:r>
              <a:t>assignments.</a:t>
            </a:r>
            <a:br/>
            <a:r>
              <a:t>Coordinator tracks</a:t>
            </a:r>
            <a:br/>
            <a:r>
              <a:t>progress throughout.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Own 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6832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48272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48272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20 HRS LIVE</a:t>
            </a:r>
            <a:br/>
            <a:r>
              <a:t>TRAINER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8272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48272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2 hrs/day for ~2 weeks.</a:t>
            </a:r>
            <a:br/>
            <a:r>
              <a:t>1-on-1 with trainer.</a:t>
            </a:r>
            <a:br/>
            <a:r>
              <a:t>Blocker resolution.</a:t>
            </a:r>
            <a:br/>
            <a:r>
              <a:t>Project deep-dive.</a:t>
            </a:r>
            <a:br/>
            <a:r>
              <a:t>Q&amp;A on any topic.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~2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321040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INTERVIEW</a:t>
            </a:r>
            <a:br/>
            <a:r>
              <a:t>PREP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Mock interviews with</a:t>
            </a:r>
            <a:br/>
            <a:r>
              <a:t>trainer during live</a:t>
            </a:r>
            <a:br/>
            <a:r>
              <a:t>sessions. Resume review.</a:t>
            </a:r>
            <a:br/>
            <a:r>
              <a:t>Project walkthrough</a:t>
            </a:r>
            <a:br/>
            <a:r>
              <a:t>practice.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During 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329184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02368" y="210312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893808" y="2194560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93808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59568" y="2212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PROFILE &amp;</a:t>
            </a:r>
            <a:br/>
            <a:r>
              <a:t>PLACEMENT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3808" y="2651760"/>
            <a:ext cx="12801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93808" y="272491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3A3"/>
                </a:solidFill>
                <a:latin typeface="Calibri"/>
              </a:defRPr>
            </a:pPr>
            <a:r>
              <a:t>Complete profile ready.</a:t>
            </a:r>
            <a:br/>
            <a:r>
              <a:t>Project portfolio done.</a:t>
            </a:r>
            <a:br/>
            <a:r>
              <a:t>Resume finalized.</a:t>
            </a:r>
            <a:br/>
            <a:r>
              <a:t>Handoff to placement</a:t>
            </a:r>
            <a:br/>
            <a:r>
              <a:t>team.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37373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A3A3"/>
                </a:solidFill>
                <a:latin typeface="Calibri"/>
              </a:defRPr>
            </a:pPr>
            <a:r>
              <a:t>Why this works for US/Canada students:</a:t>
            </a:r>
            <a:br/>
            <a:r>
              <a:t>• Work during the day, study evenings/weekends  |  • No missed sessions — they set the schedule  |  • 100% material covered, nothing skipped  |  • 20 hrs live trainer at the end for mastery + interview prep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Self-paced ensures 100% coverage. Live trainer at the end ensures mastery, project quality, and interview readiness.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MODEL B: LIVE GROUP (80 HRS / 8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80 Hours Live: 2 Hours/Day Over 8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Profile Day 1. Project Day 1. 2-hr live session daily. Complete homework assignments before next session to stay in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754"/>
                </a:solidFill>
                <a:latin typeface="Calibri"/>
              </a:defRPr>
            </a:pPr>
            <a:r>
              <a:t>DAILY RHYTHM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LIVE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2-hour live session with trainer (daily)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Trainer covers topics, answers questions, unblocks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PROJECT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Trainer guides project work at appropriate moments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HOMEWORK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91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Trainer assigns lessons to study + assignments to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STUDENT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Study PPTs, watch videos, complete assignments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NEXT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840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Come prepared with completed homework, ready for next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8-WEEK OVERVIEW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4688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Profile + project setup. Insurance intro. PolicyCenter business.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706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77063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ClaimCenter business. Claims, financials, vendors.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723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07238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Developer fundamentals. Config, data model, Gosu, UI.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7413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37413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ClaimCenter configuration. Rules, permissions, activities.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758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67588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PolicyCenter configuration. Wizards, revisioning, lifecycle.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977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Integration + final project review + interview prep.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WHAT MAKES OUR LIVE GROUP DIFFERENT FROM OTHERS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0109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8754"/>
                </a:solidFill>
                <a:latin typeface="Calibri"/>
              </a:defRPr>
            </a:pPr>
            <a:r>
              <a:t>Profile Day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21208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285232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We don't wait until the end.</a:t>
            </a:r>
            <a:br/>
            <a:r>
              <a:t>Profile created Day 1.</a:t>
            </a:r>
            <a:br/>
            <a:r>
              <a:t>Project assigned Day 1.</a:t>
            </a:r>
            <a:br/>
            <a:r>
              <a:t>Students know what</a:t>
            </a:r>
            <a:br/>
            <a:r>
              <a:t>they're building for.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9377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50109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69A1"/>
                </a:solidFill>
                <a:latin typeface="Calibri"/>
              </a:defRPr>
            </a:pPr>
            <a:r>
              <a:t>Homework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521208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5285232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Lessons are homework.</a:t>
            </a:r>
            <a:br/>
            <a:r>
              <a:t>Students must complete</a:t>
            </a:r>
            <a:br/>
            <a:r>
              <a:t>before next session.</a:t>
            </a:r>
            <a:br/>
            <a:r>
              <a:t>Live time is for Q&amp;A,</a:t>
            </a:r>
            <a:br/>
            <a:r>
              <a:t>not passive lectures.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49377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50109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8 Weeks = Depth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521208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5285232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Not a rushed 2-week bootcamp.</a:t>
            </a:r>
            <a:br/>
            <a:r>
              <a:t>80 hours of live time.</a:t>
            </a:r>
            <a:br/>
            <a:r>
              <a:t>Students absorb, practice,</a:t>
            </a:r>
            <a:br/>
            <a:r>
              <a:t>and build properly.</a:t>
            </a:r>
            <a:br/>
            <a:r>
              <a:t>No shortcuts.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78240" y="4937760"/>
            <a:ext cx="26060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15400" y="50109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Stay In Sync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521208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15400" y="5285232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Everyone completes the</a:t>
            </a:r>
            <a:br/>
            <a:r>
              <a:t>same homework daily.</a:t>
            </a:r>
            <a:br/>
            <a:r>
              <a:t>Group moves together.</a:t>
            </a:r>
            <a:br/>
            <a:r>
              <a:t>Trainer knows exactly</a:t>
            </a:r>
            <a:br/>
            <a:r>
              <a:t>where everyone is.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THE STUDENT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From Enrollment to Placement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ENROLL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Student signs up for</a:t>
            </a:r>
            <a:br/>
            <a:r>
              <a:t>the program.</a:t>
            </a:r>
            <a:br/>
            <a:r>
              <a:t>Assessed for level.</a:t>
            </a:r>
            <a:br/>
            <a:r>
              <a:t>Platform access given.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8328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OPT Recruiter / Training Sales</a:t>
            </a:r>
            <a:br/>
            <a:r>
              <a:t>identifies the lead, qualifies,</a:t>
            </a:r>
            <a:br/>
            <a:r>
              <a:t>and enrolls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6032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45920"/>
            <a:ext cx="2103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ONBOARD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10312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214884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Dedicated coordinator</a:t>
            </a:r>
            <a:br/>
            <a:r>
              <a:t>assigned. Profile created</a:t>
            </a:r>
            <a:br/>
            <a:r>
              <a:t>Day 1. Project assigned</a:t>
            </a:r>
            <a:br/>
            <a:r>
              <a:t>based on resume.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38328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3429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Coordinator handles logistics,</a:t>
            </a:r>
            <a:br/>
            <a:r>
              <a:t>schedules, progress tracking.</a:t>
            </a:r>
            <a:br/>
            <a:r>
              <a:t>Trainer sets up project env.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56032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645920"/>
            <a:ext cx="2103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LEARN &amp;</a:t>
            </a:r>
            <a:br/>
            <a: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210312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214884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Self-paced: own schedule.</a:t>
            </a:r>
            <a:br/>
            <a:r>
              <a:t>Live group: 2 hrs/day.</a:t>
            </a:r>
            <a:br/>
            <a:r>
              <a:t>Completes all assignments.</a:t>
            </a:r>
            <a:br/>
            <a:r>
              <a:t>100% coverage guaranteed.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338328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3429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Coordinator tracks progress.</a:t>
            </a:r>
            <a:br/>
            <a:r>
              <a:t>Trainer (1-on-1 or group)</a:t>
            </a:r>
            <a:br/>
            <a:r>
              <a:t>guides and reviews.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56032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1645920"/>
            <a:ext cx="2103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INTERVIEW</a:t>
            </a:r>
            <a:br/>
            <a:r>
              <a:t>PREP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10312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214884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500+ interview questions.</a:t>
            </a:r>
            <a:br/>
            <a:r>
              <a:t>Mock interviews with trainer.</a:t>
            </a:r>
            <a:br/>
            <a:r>
              <a:t>Project walkthrough practice.</a:t>
            </a:r>
            <a:br/>
            <a:r>
              <a:t>Resume finalized.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38328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0" y="3429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Trainer conducts mock</a:t>
            </a:r>
            <a:br/>
            <a:r>
              <a:t>interviews. Profile is</a:t>
            </a:r>
            <a:br/>
            <a:r>
              <a:t>polished and ready.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56032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1645920"/>
            <a:ext cx="2103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554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PLACEMENT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210312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55480" y="214884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Added to our talent pool.</a:t>
            </a:r>
            <a:br/>
            <a:r>
              <a:t>Top performers: W2 bench.</a:t>
            </a:r>
            <a:br/>
            <a:r>
              <a:t>Others: matched to jobs.</a:t>
            </a:r>
            <a:br/>
            <a:r>
              <a:t>Interview-ready.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3383280"/>
            <a:ext cx="18288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555480" y="3429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Account Manager / Bench Sales</a:t>
            </a:r>
            <a:br/>
            <a:r>
              <a:t>take over. Submit to</a:t>
            </a:r>
            <a:br/>
            <a:r>
              <a:t>client jobs immediately.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The handoff is seamless. Training Sales → Dedicated Coordinator → Trainer → Account Manager/Bench Sales.</a:t>
            </a:r>
            <a:br/>
            <a:r>
              <a:t>Coordinator stays with the student throughout. No one falls through the cracks.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I N T I M E   A C A D E M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Guidewire InsuranceSuite</a:t>
            </a:r>
            <a:br/>
            <a:r>
              <a:t>Training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  <a:latin typeface="Calibri"/>
              </a:defRPr>
            </a:pPr>
            <a:r>
              <a:t>40 Days  |  121 Lessons  |  119 Assignments  |  6 Modules</a:t>
            </a:r>
            <a:br/>
            <a:r>
              <a:t>PolicyCenter + ClaimCenter +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Calibri"/>
              </a:defRPr>
            </a:pPr>
            <a:r>
              <a:t>Now let's look at the specific Guidewire curriculum...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GUIDEWIRE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Days 1-13: Business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Calibri"/>
              </a:defRPr>
            </a:pPr>
            <a:r>
              <a:t>Insurance basics, PolicyCenter business operations, and ClaimCenter business operations. Students learn what the system DOES before learning how to configure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8580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754"/>
                </a:solidFill>
                <a:latin typeface="Calibri"/>
              </a:defRPr>
            </a:pPr>
            <a:r>
              <a:t>DAYS 1-9: POLICYCENTER BUSINESS (~34 lessons)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922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Dev Fundamentals, Cloud Overview, Project Resources, User Story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52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PolicyCenter Intro, Accounts, Policy Transactions, Policy File, Product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369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Full Application Submission, Policy Tools, Changes &amp; Preemptions, Renewals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2102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Cancellation/Reinstatement/Rewrite, Out of Sequence, Users &amp; Groups, Orgs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05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050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Forms, Underwriting Authority (Intro + Managing), Products &amp; Policy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Coverages, Coverage Terms, Product Model Availability, Question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731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731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Modifiers, Contingencies, Policy Holds &amp; UW Referrals,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57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572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Notes, Activities, Roles &amp; Permissions,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412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4126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Premium Audits, Rating Basics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011680"/>
            <a:ext cx="40233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DAYS 10-13: CLAIMCENTER</a:t>
            </a:r>
            <a:br/>
            <a:r>
              <a:t>BUSINESS (~16 lessons)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2468880"/>
            <a:ext cx="36576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2560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ClaimCenter Intro,</a:t>
            </a:r>
            <a:br/>
            <a:r>
              <a:t>Claims Process,</a:t>
            </a:r>
            <a:br/>
            <a:r>
              <a:t>Claim Maintenance,</a:t>
            </a:r>
            <a:br/>
            <a:r>
              <a:t>Org Structure,</a:t>
            </a:r>
            <a:br/>
            <a:r>
              <a:t>LoB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429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611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Claim Intake,</a:t>
            </a:r>
            <a:br/>
            <a:r>
              <a:t>Claim Setup,</a:t>
            </a:r>
            <a:br/>
            <a:r>
              <a:t>Data Model,</a:t>
            </a:r>
            <a:br/>
            <a:r>
              <a:t>Adjudication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976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Financial Terms,</a:t>
            </a:r>
            <a:br/>
            <a:r>
              <a:t>Creating Payments,</a:t>
            </a:r>
            <a:br/>
            <a:r>
              <a:t>Payment Approvals,</a:t>
            </a:r>
            <a:br/>
            <a:r>
              <a:t>Financial Holds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166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3492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Managing Contacts,</a:t>
            </a:r>
            <a:br/>
            <a:r>
              <a:t>Managing Vendors,</a:t>
            </a:r>
            <a:br/>
            <a:r>
              <a:t>Service Requests,</a:t>
            </a:r>
            <a:br/>
            <a:r>
              <a:t>Permissions &amp; ACLs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By Day 13, students understand the full insurance lifecycle: policies, claims, payments, underwriting, and compliance.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GUIDEWIRE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Days 14-20: Developer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From understanding the business to configuring the system. Students learn the development toolkit.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InsuranceSuite Developer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Introduction to Guidewire Configuration  |  Introduction to the Data Model  |  Extending the 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Students go from user to developer. Learn how config works under the hood.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78608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24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UI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24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The User Interface Architecture  |  Atomic Widgets  |  Detail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24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Learn the PCF framework. How screens are built. Widget types and layouts.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82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82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Gosu &amp;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2826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Introduction to Locations  |  Introduction to Gosu  |  Gosu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826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The Guidewire programming language. Locations, rules, and scripting.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95344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941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41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Advanced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9410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Enhancements  |  Code Generation &amp; Debugging  |  Creating New 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410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Extend the platform. Debug issues. Create custom data structures.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53712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599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99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List Views &amp; 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599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List Views  |  Editable List Views  |  Typelists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599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Build data grids. Editable tables. Custom type definitions.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12080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UI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257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Popups  |  Validation  |  Input 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257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Modal dialogs. Form validation. Reusable input components.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70448"/>
            <a:ext cx="107899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9161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Day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916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Advanced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161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Partial Page Update  |  Subtypes  |  Modes  |  Entity Names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9161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37373"/>
                </a:solidFill>
                <a:latin typeface="Calibri"/>
              </a:defRPr>
            </a:pPr>
            <a:r>
              <a:t>AJAX updates. Polymorphic entities. Display modes. Naming conventions.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After Day 20, students can build custom UI, write Gosu code, extend data models, and debug Guidewire applications.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GUIDEWIRE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Days 21-40: Configuration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Apply developer skills to configure both ClaimCenter and PolicyCenter, then build integrations.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alibri"/>
              </a:defRPr>
            </a:pPr>
            <a:r>
              <a:t>DAYS 21-26</a:t>
            </a:r>
            <a:br/>
            <a:r>
              <a:t>ClaimCenter 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21: UI Config, LoB, Claim Intake Config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22: Gosu Rules, Assignment Rules, Validation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23: Claim Setup Rules, Contacts, Financials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24: Financial Holds, Approvals, Vendor Services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25: Search, Claim History, Permissions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26: Activity Rules, Exposure Rules, Archiving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754"/>
                </a:solidFill>
                <a:latin typeface="Calibri"/>
              </a:defRPr>
            </a:pPr>
            <a:r>
              <a:t>DAYS 27-30</a:t>
            </a:r>
            <a:br/>
            <a:r>
              <a:t>PolicyCenter 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27: Data Model, Location Groups, Wizards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28: Contacts, Revisioning, UW Issues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29: Approving UW Issues, Validation Classes,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            Revisioning Contacts &amp; Locations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Day 30: Permissions, Creating Activities,</a:t>
            </a:r>
          </a:p>
          <a:p>
            <a:pPr>
              <a:spcAft>
                <a:spcPts val="3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            Assigning Activities, Job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FDF8ED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8B4A"/>
                </a:solidFill>
                <a:latin typeface="Calibri"/>
              </a:defRPr>
            </a:pPr>
            <a:r>
              <a:t>DAYS 31-40</a:t>
            </a:r>
            <a:br/>
            <a:r>
              <a:t>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514600"/>
            <a:ext cx="3474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6060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31: Integration Intro, Gosu for Integration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32: Gosu Queries, Bundles &amp; Transactions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33: Templates, XML Modeler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34: Integration Views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35: RESTful &amp; SOAP Web Services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36: Plugins, Messaging Architecture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37: Triggering &amp; Creating Messages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38: Payload Transformation, Sending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39: Acknowledging Messages, Authentication</a:t>
            </a:r>
          </a:p>
          <a:p>
            <a:pPr>
              <a:spcAft>
                <a:spcPts val="100"/>
              </a:spcAft>
              <a:defRPr sz="800">
                <a:solidFill>
                  <a:srgbClr val="525252"/>
                </a:solidFill>
                <a:latin typeface="Calibri"/>
              </a:defRPr>
            </a:pPr>
            <a:r>
              <a:t>• Day 40: Batch Processes, Document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PROGRAM TOTALS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Complete curriculum</a:t>
            </a:r>
            <a:br/>
            <a:r>
              <a:t>covering everything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Each with PPT, video,</a:t>
            </a:r>
            <a:br/>
            <a:r>
              <a:t>interview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ASSIGNMENTS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Hands-on labs building</a:t>
            </a:r>
            <a:br/>
            <a:r>
              <a:t>the full project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Business → Dev →</a:t>
            </a:r>
            <a:br/>
            <a:r>
              <a:t>Config →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INTERVIEW Q's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Prepared for every</a:t>
            </a:r>
            <a:br/>
            <a:r>
              <a:t>possible question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534924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92640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A9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715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1717"/>
                </a:solidFill>
                <a:latin typeface="Calibri"/>
              </a:defRPr>
            </a:pPr>
            <a:r>
              <a:t>FULL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8978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37373"/>
                </a:solidFill>
                <a:latin typeface="Calibri"/>
              </a:defRPr>
            </a:pPr>
            <a:r>
              <a:t>Complete implementation</a:t>
            </a:r>
            <a:br/>
            <a:r>
              <a:t>ready for portfolio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THE FINAL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Profile, Project &amp; 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Calibri"/>
              </a:defRPr>
            </a:pPr>
            <a:r>
              <a:t>This is where we turn a student into a candidate. Most training programs stop at teaching. We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06040" cy="37490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alibri"/>
              </a:defRPr>
            </a:pPr>
            <a:r>
              <a:t>PROFILE</a:t>
            </a:r>
            <a:br/>
            <a:r>
              <a:t>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Resume reviewed and enhanced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Guidewire-specific keywords added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Project experience written up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Skills matrix documented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LinkedIn profile optimized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Professional headshot &amp;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663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369A1"/>
                </a:solidFill>
                <a:latin typeface="Calibri"/>
              </a:defRPr>
            </a:pPr>
            <a:r>
              <a:t>Profile is ready to submit</a:t>
            </a:r>
            <a:br/>
            <a:r>
              <a:t>to clients on Day 1 after</a:t>
            </a:r>
            <a:br/>
            <a:r>
              <a:t>graduation.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03120"/>
            <a:ext cx="2606040" cy="37490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194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754"/>
                </a:solidFill>
                <a:latin typeface="Calibri"/>
              </a:defRPr>
            </a:pPr>
            <a:r>
              <a:t>CUSTOM</a:t>
            </a:r>
            <a:br/>
            <a:r>
              <a:t>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60604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Project assigned based on resume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Tailored to student's background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Full implementation showcase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Real business scenarios used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Code review by trainer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Ready for 'tell me about your project'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1663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A8754"/>
                </a:solidFill>
                <a:latin typeface="Calibri"/>
              </a:defRPr>
            </a:pPr>
            <a:r>
              <a:t>When interviewer asks about</a:t>
            </a:r>
            <a:br/>
            <a:r>
              <a:t>project, student has a REAL</a:t>
            </a:r>
            <a:br/>
            <a:r>
              <a:t>answer with REAL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03120"/>
            <a:ext cx="2606040" cy="37490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2194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INTERVIEW</a:t>
            </a:r>
            <a:br/>
            <a:r>
              <a:t>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60604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697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500+ topic-specific questions covered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Mock interviews with trainer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Behavioral question practice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Technical scenario walkthroughs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Common gotchas reviewed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Confidence building exercises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1663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9A961"/>
                </a:solidFill>
                <a:latin typeface="Calibri"/>
              </a:defRPr>
            </a:pPr>
            <a:r>
              <a:t>Student has already answered</a:t>
            </a:r>
            <a:br/>
            <a:r>
              <a:t>every possible question</a:t>
            </a:r>
            <a:br/>
            <a:r>
              <a:t>before the real interview.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103120"/>
            <a:ext cx="2606040" cy="37490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21945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PLACEMENT</a:t>
            </a:r>
            <a:br/>
            <a:r>
              <a:t>READINESS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60604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2697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Added to InTime talent pool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Top performers: W2 bench offer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Matched to active job openings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Interview coaching continues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Support through placement process</a:t>
            </a:r>
          </a:p>
          <a:p>
            <a:pPr>
              <a:spcAft>
                <a:spcPts val="200"/>
              </a:spcAft>
              <a:defRPr sz="900">
                <a:solidFill>
                  <a:srgbClr val="A3A3A3"/>
                </a:solidFill>
                <a:latin typeface="Calibri"/>
              </a:defRPr>
            </a:pPr>
            <a:r>
              <a:t>• Ongoing career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1663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97706"/>
                </a:solidFill>
                <a:latin typeface="Calibri"/>
              </a:defRPr>
            </a:pPr>
            <a:r>
              <a:t>Seamless handoff to our</a:t>
            </a:r>
            <a:br/>
            <a:r>
              <a:t>Account Manager and</a:t>
            </a:r>
            <a:br/>
            <a:r>
              <a:t>Bench Sales teams.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The difference between our graduates and others: They can talk about their project, answer any question, and have a profile ready to submit. That's what placement teams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FOR 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How Each Team Interacts With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Every team in InTime touches the training program. Here's how you connect.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Training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YOUR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Sell the program to leads.</a:t>
            </a:r>
            <a:br/>
            <a:r>
              <a:t>Explain both models.</a:t>
            </a:r>
            <a:br/>
            <a:r>
              <a:t>Handle enrollment.</a:t>
            </a:r>
            <a:br/>
            <a:r>
              <a:t>Follow up with prospects.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TALKING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100+ lessons, nothing skipped</a:t>
            </a:r>
            <a:br/>
            <a:r>
              <a:t>Full project, not just theory</a:t>
            </a:r>
            <a:br/>
            <a:r>
              <a:t>Self-paced or live group</a:t>
            </a:r>
            <a:br/>
            <a:r>
              <a:t>1-on-1 trainer time</a:t>
            </a:r>
            <a:br/>
            <a:r>
              <a:t>Interview prep included</a:t>
            </a:r>
            <a:br/>
            <a:r>
              <a:t>Placement support after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92024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OPT Recruiter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42316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46888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YOUR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Source OPT/CPT students.</a:t>
            </a:r>
            <a:br/>
            <a:r>
              <a:t>Qualify for training.</a:t>
            </a:r>
            <a:br/>
            <a:r>
              <a:t>Handoff to Training Sales.</a:t>
            </a:r>
            <a:br/>
            <a:r>
              <a:t>Feed experienced to AM team.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70332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HOW TO QUALIFY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40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IT background or interest?</a:t>
            </a:r>
            <a:br/>
            <a:r>
              <a:t>Willing to invest in training?</a:t>
            </a:r>
            <a:br/>
            <a:r>
              <a:t>Available for program duration?</a:t>
            </a:r>
            <a:br/>
            <a:r>
              <a:t>US work authorization (OPT/CPT)?</a:t>
            </a:r>
            <a:br/>
            <a:r>
              <a:t>Career changers welcome</a:t>
            </a:r>
            <a:br/>
            <a:r>
              <a:t>Fresh grads are ideal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92024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Training Team</a:t>
            </a:r>
            <a:br/>
            <a:r>
              <a:t>(Lead + Trainer +</a:t>
            </a:r>
            <a:br/>
            <a:r>
              <a:t>Coordinator)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2316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YOUR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606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Deliver the program.</a:t>
            </a:r>
            <a:br/>
            <a:r>
              <a:t>Track student progress.</a:t>
            </a:r>
            <a:br/>
            <a:r>
              <a:t>Ensure 100% completion.</a:t>
            </a:r>
            <a:br/>
            <a:r>
              <a:t>Prepare for placement.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65760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370332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840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100% lesson completion</a:t>
            </a:r>
            <a:br/>
            <a:r>
              <a:t>100% assignment completion</a:t>
            </a:r>
            <a:br/>
            <a:r>
              <a:t>Project quality score 4+/5</a:t>
            </a:r>
            <a:br/>
            <a:r>
              <a:t>Mock interview readiness</a:t>
            </a:r>
            <a:br/>
            <a:r>
              <a:t>90%+ student satisfaction</a:t>
            </a:r>
            <a:br/>
            <a:r>
              <a:t>Placement within 30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192024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1540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  <a:latin typeface="Calibri"/>
              </a:defRPr>
            </a:pPr>
            <a:r>
              <a:t>Account Manager</a:t>
            </a:r>
            <a:br/>
            <a:r>
              <a:t>&amp; Bench Sales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42316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15400" y="246888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YOUR 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606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Receive graduates.</a:t>
            </a:r>
            <a:br/>
            <a:r>
              <a:t>Match to open jobs.</a:t>
            </a:r>
            <a:br/>
            <a:r>
              <a:t>Submit to clients.</a:t>
            </a:r>
            <a:br/>
            <a:r>
              <a:t>Support through interviews.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657600"/>
            <a:ext cx="2331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3703320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8404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Profile-ready candidates</a:t>
            </a:r>
            <a:br/>
            <a:r>
              <a:t>Full project experience</a:t>
            </a:r>
            <a:br/>
            <a:r>
              <a:t>500+ interview Q's practiced</a:t>
            </a:r>
            <a:br/>
            <a:r>
              <a:t>Guidewire implementation skills</a:t>
            </a:r>
            <a:br/>
            <a:r>
              <a:t>Resume updated &amp; polished</a:t>
            </a:r>
            <a:br/>
            <a:r>
              <a:t>Confident, prepared candidates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"We don't just teach Guidewire.</a:t>
            </a:r>
            <a:br>
              <a:rPr dirty="0"/>
            </a:br>
            <a:r>
              <a:rPr dirty="0"/>
              <a:t>We build Guidewire professionals.</a:t>
            </a:r>
            <a:br>
              <a:rPr dirty="0"/>
            </a:br>
            <a:br>
              <a:rPr dirty="0"/>
            </a:br>
            <a:r>
              <a:rPr dirty="0"/>
              <a:t>Every lesson. Every assignment.</a:t>
            </a:r>
            <a:br>
              <a:rPr dirty="0"/>
            </a:br>
            <a:r>
              <a:rPr dirty="0"/>
              <a:t>Every interview question.</a:t>
            </a:r>
            <a:br>
              <a:rPr dirty="0"/>
            </a:br>
            <a:r>
              <a:rPr dirty="0"/>
              <a:t>One full project."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591" y="66751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961"/>
                </a:solidFill>
                <a:latin typeface="Calibri"/>
              </a:defRPr>
            </a:pPr>
            <a:r>
              <a:rPr dirty="0"/>
              <a:t>- The </a:t>
            </a:r>
            <a:r>
              <a:rPr dirty="0" err="1"/>
              <a:t>InTime</a:t>
            </a:r>
            <a:r>
              <a:rPr dirty="0"/>
              <a:t>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Assignments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Interview Q's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A3A3"/>
                </a:solidFill>
                <a:latin typeface="Calibri"/>
              </a:defRPr>
            </a:pPr>
            <a:r>
              <a:t>Full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3A3A3"/>
                </a:solidFill>
                <a:latin typeface="Calibri"/>
              </a:defRPr>
            </a:pPr>
            <a:r>
              <a:t>Model A: Self-paced + 20 hrs live trainer.  Model B: 80 hrs live over 8 weeks.</a:t>
            </a:r>
            <a:br/>
            <a:r>
              <a:t>Both produce placement-ready Guidewire professionals. Dedicated coordinator throughout.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73"/>
                </a:solidFill>
                <a:latin typeface="Calibri"/>
              </a:defRPr>
            </a:pPr>
            <a:r>
              <a:t>I N T I M E   A C A D E M Y  |  Guidewire InsuranceSuite  |  February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3489</Words>
  <Application>Microsoft Macintosh PowerPoint</Application>
  <PresentationFormat>Widescreen</PresentationFormat>
  <Paragraphs>417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Sumanth Nagolu</cp:lastModifiedBy>
  <cp:revision>2</cp:revision>
  <dcterms:created xsi:type="dcterms:W3CDTF">2013-01-27T09:14:16Z</dcterms:created>
  <dcterms:modified xsi:type="dcterms:W3CDTF">2026-02-12T20:26:41Z</dcterms:modified>
  <cp:category/>
</cp:coreProperties>
</file>