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961"/>
                </a:solidFill>
                <a:latin typeface="Calibri"/>
              </a:defRPr>
            </a:pPr>
            <a:r>
              <a:t>I N T I M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Welcome to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3A3A3"/>
                </a:solidFill>
                <a:latin typeface="Calibri"/>
              </a:defRPr>
            </a:pPr>
            <a:r>
              <a:t>Our Business, Every Role, and What We Expect From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alibri"/>
              </a:defRPr>
            </a:pPr>
            <a:r>
              <a:t>February 2026  |  US IT Staffing  |  Hyderabad Operations  |  Phase 1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71717"/>
                </a:solidFill>
                <a:latin typeface="Calibri"/>
              </a:defRPr>
            </a:pPr>
            <a:r>
              <a:t>InTime is a US IT Staffing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25252"/>
                </a:solidFill>
                <a:latin typeface="Calibri"/>
              </a:defRPr>
            </a:pPr>
            <a:r>
              <a:t>We connect talented IT professionals with companies that need them in the United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1717"/>
                </a:solidFill>
                <a:latin typeface="Calibri"/>
              </a:defRPr>
            </a:pPr>
            <a:r>
              <a:t>Academy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We train people in IT technologies</a:t>
            </a:r>
            <a:br/>
            <a:r>
              <a:t>(Guidewire, Java, etc.) from scratch.</a:t>
            </a:r>
            <a:br/>
            <a:r>
              <a:t>2-month intensive programs.</a:t>
            </a:r>
            <a:br/>
            <a:r>
              <a:t>Students pay for training.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4688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RECRUIT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1717"/>
                </a:solidFill>
                <a:latin typeface="Calibri"/>
              </a:defRPr>
            </a:pPr>
            <a:r>
              <a:t>Find IT Talent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3832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We source experienced IT professionals</a:t>
            </a:r>
            <a:br/>
            <a:r>
              <a:t>from India, OPT students from US/Canada.</a:t>
            </a:r>
            <a:br/>
            <a:r>
              <a:t>Build a qualified talent pool ready</a:t>
            </a:r>
            <a:br/>
            <a:r>
              <a:t>to deploy on client projects.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4688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1717"/>
                </a:solidFill>
                <a:latin typeface="Calibri"/>
              </a:defRPr>
            </a:pPr>
            <a:r>
              <a:t>Deploy on Projects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3832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We place consultants at US companies</a:t>
            </a:r>
            <a:br/>
            <a:r>
              <a:t>on contract (hourly bill rate).</a:t>
            </a:r>
            <a:br/>
            <a:r>
              <a:t>We also do direct hire placements</a:t>
            </a:r>
            <a:br/>
            <a:r>
              <a:t>(percentage of first-year salary).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468880"/>
            <a:ext cx="24688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926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1717"/>
                </a:solidFill>
                <a:latin typeface="Calibri"/>
              </a:defRPr>
            </a:pPr>
            <a:r>
              <a:t>Ensure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3383280"/>
            <a:ext cx="2103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25252"/>
                </a:solidFill>
                <a:latin typeface="Calibri"/>
              </a:defRPr>
            </a:pPr>
            <a:r>
              <a:t>We manage ongoing client relationships,</a:t>
            </a:r>
            <a:br/>
            <a:r>
              <a:t>consultant performance, and renewals.</a:t>
            </a:r>
            <a:br/>
            <a:r>
              <a:t>Happy clients = repeat business.</a:t>
            </a:r>
            <a:br/>
            <a:r>
              <a:t>This is where revenue compounds.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37373"/>
                </a:solidFill>
                <a:latin typeface="Calibri"/>
              </a:defRPr>
            </a:pPr>
            <a:r>
              <a:t>Hyderabad office runs all operations. US clients pay us. We earn the spread between what clients pay and what consultants cost.</a:t>
            </a:r>
            <a:br/>
            <a:r>
              <a:t>Training = immediate revenue. Placements = recurring revenue.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Staffing agencies run on chaos.</a:t>
            </a:r>
            <a:br/>
            <a:r>
              <a:t>We eliminate that chaos.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3A3A3"/>
                </a:solidFill>
                <a:latin typeface="Calibri"/>
              </a:defRPr>
            </a:pPr>
            <a:r>
              <a:t>Every staffing agency has the same problems: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12+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3A3A3"/>
                </a:solidFill>
                <a:latin typeface="Calibri"/>
              </a:defRPr>
            </a:pPr>
            <a:r>
              <a:t>ATS, CRM, spreadsheets, email,</a:t>
            </a:r>
            <a:br/>
            <a:r>
              <a:t>timesheets, payroll - all disconnected.</a:t>
            </a:r>
            <a:br/>
            <a:r>
              <a:t>Nothing talks to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2918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No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931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3A3A3"/>
                </a:solidFill>
                <a:latin typeface="Calibri"/>
              </a:defRPr>
            </a:pPr>
            <a:r>
              <a:t>Managers can't see what's</a:t>
            </a:r>
            <a:br/>
            <a:r>
              <a:t>happening in real time.</a:t>
            </a:r>
            <a:br/>
            <a:r>
              <a:t>Reactive firefighting daily.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32918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40% Time Wasted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3A3A3"/>
                </a:solidFill>
                <a:latin typeface="Calibri"/>
              </a:defRPr>
            </a:pPr>
            <a:r>
              <a:t>Recruiters spend 40% of their</a:t>
            </a:r>
            <a:br/>
            <a:r>
              <a:t>time on admin work instead</a:t>
            </a:r>
            <a:br/>
            <a:r>
              <a:t>of actually recruiting.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29184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3474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Data Silos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9319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3A3A3"/>
                </a:solidFill>
                <a:latin typeface="Calibri"/>
              </a:defRPr>
            </a:pPr>
            <a:r>
              <a:t>Critical information is stuck</a:t>
            </a:r>
            <a:br/>
            <a:r>
              <a:t>in different tools and people's</a:t>
            </a:r>
            <a:br/>
            <a:r>
              <a:t>heads. No single source of truth.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961"/>
                </a:solidFill>
                <a:latin typeface="Calibri"/>
              </a:defRPr>
            </a:pPr>
            <a:r>
              <a:t>InTime Solution: One unified platform + one well-structured team = Zero chaos.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OUR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Seven Interconnected Funnels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Three supply sources feed one talent pool, which deploys through four demand channels.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8754"/>
                </a:solidFill>
                <a:latin typeface="Calibri"/>
              </a:defRPr>
            </a:pPr>
            <a:r>
              <a:t>SUPPLY SIDE (Where Talent Comes From)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2194560" cy="132588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875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Train new IT talent from scratch.</a:t>
            </a:r>
            <a:br/>
            <a:r>
              <a:t>2-month certification programs.</a:t>
            </a:r>
            <a:br/>
            <a:r>
              <a:t>Students pay for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77440"/>
            <a:ext cx="2194560" cy="132588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875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Recruiting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Source experienced professionals.</a:t>
            </a:r>
            <a:br/>
            <a:r>
              <a:t>Build qualified talent pool.</a:t>
            </a:r>
            <a:br/>
            <a:r>
              <a:t>OPT, LinkedIn, referrals.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377440"/>
            <a:ext cx="2194560" cy="132588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875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Campaigns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Attract inbound candidates</a:t>
            </a:r>
            <a:br/>
            <a:r>
              <a:t>through marketing &amp; outreach.</a:t>
            </a:r>
            <a:br/>
            <a:r>
              <a:t>Job ads, social,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71717"/>
                </a:solidFill>
                <a:latin typeface="Calibri"/>
              </a:defRPr>
            </a:pPr>
            <a:r>
              <a:t>TALENT POOL  (Qualified, profiled, ready to deploy)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Calibri"/>
              </a:defRPr>
            </a:pPr>
            <a:r>
              <a:t>DEMAND SIDE (Where Revenue Comes From)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219456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36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Account</a:t>
            </a:r>
            <a:br/>
            <a:r>
              <a:t>Acquisition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Win new clients.</a:t>
            </a:r>
            <a:br/>
            <a:r>
              <a:t>Vendor partnerships.</a:t>
            </a:r>
            <a:br/>
            <a:r>
              <a:t>MSA negotiations.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4663440"/>
            <a:ext cx="219456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736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Job</a:t>
            </a:r>
            <a:br/>
            <a:r>
              <a:t>Fulfillment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Fill client positions.</a:t>
            </a:r>
            <a:br/>
            <a:r>
              <a:t>Submit candidates.</a:t>
            </a:r>
            <a:br/>
            <a:r>
              <a:t>Close placements.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4663440"/>
            <a:ext cx="219456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4736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Bench</a:t>
            </a:r>
            <a:br/>
            <a:r>
              <a:t>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Sell available W2</a:t>
            </a:r>
            <a:br/>
            <a:r>
              <a:t>consultants to</a:t>
            </a:r>
            <a:br/>
            <a:r>
              <a:t>client projects.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663440"/>
            <a:ext cx="219456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4736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369A1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Delivery</a:t>
            </a:r>
            <a:br/>
            <a:r>
              <a:t>Mgmt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Ensure success.</a:t>
            </a:r>
            <a:br/>
            <a:r>
              <a:t>Client satisfaction.</a:t>
            </a:r>
            <a:br/>
            <a:r>
              <a:t>Renewals &amp; growth.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37373"/>
                </a:solidFill>
                <a:latin typeface="Calibri"/>
              </a:defRPr>
            </a:pPr>
            <a:r>
              <a:t>THE FLYWHEEL</a:t>
            </a:r>
            <a:br/>
            <a:br/>
            <a:r>
              <a:t>Graduates</a:t>
            </a:r>
            <a:br/>
            <a:r>
              <a:t>     |</a:t>
            </a:r>
            <a:br/>
            <a:r>
              <a:t>Talent Pool</a:t>
            </a:r>
            <a:br/>
            <a:r>
              <a:t>     |</a:t>
            </a:r>
            <a:br/>
            <a:r>
              <a:t>Placements</a:t>
            </a:r>
            <a:br/>
            <a:r>
              <a:t>     |</a:t>
            </a:r>
            <a:br/>
            <a:r>
              <a:t>Client Success</a:t>
            </a:r>
            <a:br/>
            <a:r>
              <a:t>     |</a:t>
            </a:r>
            <a:br/>
            <a:r>
              <a:t>Renewals</a:t>
            </a:r>
            <a:br/>
            <a:r>
              <a:t>     |</a:t>
            </a:r>
            <a:br/>
            <a:r>
              <a:t>Reputation</a:t>
            </a:r>
            <a:br/>
            <a:r>
              <a:t>     |</a:t>
            </a:r>
            <a:br/>
            <a:r>
              <a:t>More Growth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TRAINING PROGRAM - OUR REVENUE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How the Academy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25252"/>
                </a:solidFill>
                <a:latin typeface="Calibri"/>
              </a:defRPr>
            </a:pPr>
            <a:r>
              <a:t>40 days. 121 lessons. 119 assignments. Every lesson has explanation PPTs with embedded demo videos, interview questions, and hands-on assignments. Labs build a FULL Guidewire project end-to-end.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685800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40-DAY CURRICULUM (6 MODULES)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77440"/>
            <a:ext cx="649224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Days 1-9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PolicyCenter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Insurance intro, accounts, policies, transactions,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Days 10-13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ClaimCenter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88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Claims process, intake, setup, adjudication,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Days 14-20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Developer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Configuration, data model, UI architecture,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Days 21-26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ClaimCenter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UI config, rules, financials config,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49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Days 27-30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PolicyCenter 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49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Data model, wizards, revisioning,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Days 31-40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1717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690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REST/SOAP APIs, plugins, messaging,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2011680"/>
            <a:ext cx="38404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2103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EACH LESSON INCLUDES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377440"/>
            <a:ext cx="34747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24688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Detailed explanation PPT slides</a:t>
            </a:r>
          </a:p>
          <a:p>
            <a:pPr>
              <a:spcAft>
                <a:spcPts val="2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Embedded demo videos</a:t>
            </a:r>
          </a:p>
          <a:p>
            <a:pPr>
              <a:spcAft>
                <a:spcPts val="2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Interview prep questions</a:t>
            </a:r>
          </a:p>
          <a:p>
            <a:pPr>
              <a:spcAft>
                <a:spcPts val="2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Hands-on assignment (lab)</a:t>
            </a:r>
          </a:p>
          <a:p>
            <a:pPr>
              <a:spcAft>
                <a:spcPts val="2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Assignments = full project build</a:t>
            </a:r>
          </a:p>
          <a:p>
            <a:pPr>
              <a:spcAft>
                <a:spcPts val="2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Each module = epic, each lesson = user story</a:t>
            </a:r>
          </a:p>
          <a:p>
            <a:pPr>
              <a:spcAft>
                <a:spcPts val="200"/>
              </a:spcAft>
              <a:defRPr sz="900">
                <a:solidFill>
                  <a:srgbClr val="525252"/>
                </a:solidFill>
                <a:latin typeface="Calibri"/>
              </a:defRPr>
            </a:pPr>
            <a:r>
              <a:t>• All labs connect into one complete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TWO DELIVERY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92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Calibri"/>
              </a:defRPr>
            </a:pPr>
            <a:r>
              <a:t>MODEL A: SELF-PACED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Designed for busy US/Canada resources.</a:t>
            </a:r>
            <a:br/>
            <a:r>
              <a:t>Students complete 121 lessons + assignments at own pace.</a:t>
            </a:r>
            <a:br/>
            <a:r>
              <a:t>Profile created, custom project assigned based on resume.</a:t>
            </a:r>
            <a:br/>
            <a:r>
              <a:t>1-on-1 trainer sessions at scheduled times for project + interview prep.</a:t>
            </a:r>
            <a:br/>
            <a:r>
              <a:t>Ensures EVERYTHING is covered (unlike group programs that skip topics).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920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937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8754"/>
                </a:solidFill>
                <a:latin typeface="Calibri"/>
              </a:defRPr>
            </a:pPr>
            <a:r>
              <a:t>MODEL B: LIVE GROUP (2 WEEKS)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1663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Small group with live trainer for 2 weeks intensive.</a:t>
            </a:r>
            <a:br/>
            <a:r>
              <a:t>Lessons assigned as homework - students study &amp; do assignments.</a:t>
            </a:r>
            <a:br/>
            <a:r>
              <a:t>Come to sessions with questions/blockers for discussion.</a:t>
            </a:r>
            <a:br/>
            <a:r>
              <a:t>Profile created Day 1, project assigned Day 1.</a:t>
            </a:r>
            <a:br/>
            <a:r>
              <a:t>Trainer guides students through project at appropriate times.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Training Team: 4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Mission: Enroll students, deliver 40-day Guidewire program, and produce placement-ready professionals.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56032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8754"/>
                </a:solidFill>
                <a:latin typeface="Calibri"/>
              </a:defRPr>
            </a:pPr>
            <a:r>
              <a:t>Training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Senior Hire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5059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9631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Morning standup with trainer (15 min)</a:t>
            </a:r>
            <a:br/>
            <a:r>
              <a:t>Review student progress dashboards</a:t>
            </a:r>
            <a:br/>
            <a:r>
              <a:t>Weekly 1:1 with each student</a:t>
            </a:r>
            <a:br/>
            <a:r>
              <a:t>Coordinate with Screening on pipeline</a:t>
            </a:r>
            <a:br/>
            <a:r>
              <a:t>Training quality audit (sit in sessions)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3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90287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3-5 yrs training ops or tech recruiting</a:t>
            </a:r>
            <a:br/>
            <a:r>
              <a:t>Managed 5+ direct reports</a:t>
            </a:r>
            <a:br/>
            <a:r>
              <a:t>Understands IT staffing industry</a:t>
            </a:r>
            <a:br/>
            <a:r>
              <a:t>Strong on accountability &amp;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5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218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Batch fill: 100% | Retention: 90%+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920240"/>
            <a:ext cx="256032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8754"/>
                </a:solidFill>
                <a:latin typeface="Calibri"/>
              </a:defRPr>
            </a:pPr>
            <a:r>
              <a:t>Trainer (Guidewire)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Senior Hire - 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45059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49631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633472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Deliver 40-day curriculum (121 lessons)</a:t>
            </a:r>
            <a:br/>
            <a:r>
              <a:t>Live sessions or self-paced guidance</a:t>
            </a:r>
            <a:br/>
            <a:r>
              <a:t>Review assignments &amp; project work</a:t>
            </a:r>
            <a:br/>
            <a:r>
              <a:t>Document student progress daily</a:t>
            </a:r>
            <a:br/>
            <a:r>
              <a:t>1-on-1 sessions for interview prep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43483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590287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5+ yrs Guidewire implementation</a:t>
            </a:r>
            <a:br/>
            <a:r>
              <a:t>3+ full lifecycle projects</a:t>
            </a:r>
            <a:br/>
            <a:r>
              <a:t>Teaching/mentoring experience</a:t>
            </a:r>
            <a:br/>
            <a:r>
              <a:t>Patient, structured communicator</a:t>
            </a:r>
            <a:br/>
            <a:r>
              <a:t>THIS HIRE MAKES OR BREAKS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16635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3218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100% sessions delivered | 4.5+/5 rating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1920240"/>
            <a:ext cx="256032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8754"/>
                </a:solidFill>
                <a:latin typeface="Calibri"/>
              </a:defRPr>
            </a:pPr>
            <a:r>
              <a:t>Training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Intern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45059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49631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633472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Respond to inquiries within 2 hours</a:t>
            </a:r>
            <a:br/>
            <a:r>
              <a:t>20+ outbound calls/messages daily</a:t>
            </a:r>
            <a:br/>
            <a:r>
              <a:t>Conduct discovery calls with leads</a:t>
            </a:r>
            <a:br/>
            <a:r>
              <a:t>Update CRM with all interactions</a:t>
            </a:r>
            <a:br/>
            <a:r>
              <a:t>3-5 enrollment closes per week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43483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590287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2-3 yrs education or tech sales</a:t>
            </a:r>
            <a:br/>
            <a:r>
              <a:t>Consultative selling experience</a:t>
            </a:r>
            <a:br/>
            <a:r>
              <a:t>Comfortable with high-value conversations</a:t>
            </a:r>
            <a:br/>
            <a:r>
              <a:t>Persistent but not pushy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16635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3218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Response &lt; 2hrs | 4-6 enrollments/month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1920240"/>
            <a:ext cx="256032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8754"/>
                </a:solidFill>
                <a:latin typeface="Calibri"/>
              </a:defRPr>
            </a:pPr>
            <a:r>
              <a:t>Training Coordinator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Intern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245059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2496312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633472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Confirm session attendance (AM check)</a:t>
            </a:r>
            <a:br/>
            <a:r>
              <a:t>Prepare session materials/links</a:t>
            </a:r>
            <a:br/>
            <a:r>
              <a:t>Track attendance, flag no-shows</a:t>
            </a:r>
            <a:br/>
            <a:r>
              <a:t>Collect daily feedback from students</a:t>
            </a:r>
            <a:br/>
            <a:r>
              <a:t>Onboard new students (1-2/week)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443483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590287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1-2 yrs operations/coordination</a:t>
            </a:r>
            <a:br/>
            <a:r>
              <a:t>Extremely organized, detail-oriented</a:t>
            </a:r>
            <a:br/>
            <a:r>
              <a:t>Good with students/customer-facing</a:t>
            </a:r>
            <a:br/>
            <a:r>
              <a:t>Comfortable with CRM &amp; spreadsheets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5166359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53218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100% ready 30 min before | 0 gaps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The Trainer is our most critical hire. Without a great trainer, the entire model fails.</a:t>
            </a:r>
            <a:br/>
            <a:r>
              <a:t>Training Lead manages the team and holds everyone accountable for student outcomes.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Account Management &amp; Recruiting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Full-cycle team. Same team sources candidates (backend) AND places them on client jobs (frontend). No handoffs.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78992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8754"/>
                </a:solidFill>
                <a:latin typeface="Calibri"/>
              </a:defRPr>
            </a:pPr>
            <a:r>
              <a:t>BACKEND (Sourcing &amp; Screening)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Recruiters source candidates from job boards, LinkedIn,</a:t>
            </a:r>
            <a:br/>
            <a:r>
              <a:t>referrals. Screen, qualify, and build the talent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Calibri"/>
              </a:defRPr>
            </a:pPr>
            <a:r>
              <a:t>FRONTEND (Placing &amp; Delivery)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Same team submits candidates to client jobs, manages</a:t>
            </a:r>
            <a:br/>
            <a:r>
              <a:t>client relationships, and ensures placement success.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Account Manager (Lead)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Senior Hire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85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67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Pipeline review with recruiters</a:t>
            </a:r>
            <a:br/>
            <a:r>
              <a:t>Client relationship management</a:t>
            </a:r>
            <a:br/>
            <a:r>
              <a:t>Job intake calls with clients</a:t>
            </a:r>
            <a:br/>
            <a:r>
              <a:t>Submission quality review</a:t>
            </a:r>
            <a:br/>
            <a:r>
              <a:t>New client outreach &amp; acquisition</a:t>
            </a:r>
            <a:br/>
            <a:r>
              <a:t>Team performance reviews weekly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4+ yrs IT recruiting/account mgmt</a:t>
            </a:r>
            <a:br/>
            <a:r>
              <a:t>Direct client relationship experience</a:t>
            </a:r>
            <a:br/>
            <a:r>
              <a:t>Business development skills</a:t>
            </a:r>
            <a:br/>
            <a:r>
              <a:t>Strategic thinker, not just executor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16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50%+ fill rate | &lt; 3 weeks to fill | 90%+ client retention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3474720" cy="7772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ACCOUNT MANAGER OWNS: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1. Client relationships &amp; job requirements</a:t>
            </a:r>
            <a:br/>
            <a:r>
              <a:t>2. Submission quality &amp; candidate-job fit</a:t>
            </a:r>
            <a:br/>
            <a:r>
              <a:t>3. New client acquisition &amp; growth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Recruiter 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474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Intern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685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730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867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Source candidates for active client jobs</a:t>
            </a:r>
            <a:br/>
            <a:r>
              <a:t>40+ outreach messages daily</a:t>
            </a:r>
            <a:br/>
            <a:r>
              <a:t>8+ screening calls per day</a:t>
            </a:r>
            <a:br/>
            <a:r>
              <a:t>Submit qualified candidates to AM</a:t>
            </a:r>
            <a:br/>
            <a:r>
              <a:t>Follow up on pending submissions</a:t>
            </a:r>
            <a:br/>
            <a:r>
              <a:t>Build candidate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02920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846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1-2 yrs IT recruiting</a:t>
            </a:r>
            <a:br/>
            <a:r>
              <a:t>Comfortable with high volume</a:t>
            </a:r>
            <a:br/>
            <a:r>
              <a:t>Good phone &amp; assessment skills</a:t>
            </a:r>
            <a:br/>
            <a:r>
              <a:t>Organized with follow-ups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76072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916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40+ outreach/day | 8+ screens/day | 1+ placement/month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Recruiter #2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474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Intern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685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3730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867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Source candidates for active client jobs</a:t>
            </a:r>
            <a:br/>
            <a:r>
              <a:t>40+ outreach messages daily</a:t>
            </a:r>
            <a:br/>
            <a:r>
              <a:t>8+ screening calls per day</a:t>
            </a:r>
            <a:br/>
            <a:r>
              <a:t>Submit qualified candidates to AM</a:t>
            </a:r>
            <a:br/>
            <a:r>
              <a:t>Follow up on pending submissions</a:t>
            </a:r>
            <a:br/>
            <a:r>
              <a:t>Build candidate relationships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02920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1846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1-2 yrs IT recruiting</a:t>
            </a:r>
            <a:br/>
            <a:r>
              <a:t>Comfortable with high volume</a:t>
            </a:r>
            <a:br/>
            <a:r>
              <a:t>Good phone &amp; assessment skills</a:t>
            </a:r>
            <a:br/>
            <a:r>
              <a:t>Organized with follow-ups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76072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916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40+ outreach/day | 8+ screens/day | 1+ placement/month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Bench Sales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Full-cycle team. One person pools all jobs for a technology (backend), bench sales submit consultants (frontend).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78992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8754"/>
                </a:solidFill>
                <a:latin typeface="Calibri"/>
              </a:defRPr>
            </a:pPr>
            <a:r>
              <a:t>BACKEND (Job Pooling)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E.g., one person collects ALL Guidewire jobs from every</a:t>
            </a:r>
            <a:br/>
            <a:r>
              <a:t>vendor, portal, and email into one place. Single source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57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Calibri"/>
              </a:defRPr>
            </a:pPr>
            <a:r>
              <a:t>FRONTEND (Submitting &amp; Closing)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Bench sales reps match bench consultants to pooled jobs,</a:t>
            </a:r>
            <a:br/>
            <a:r>
              <a:t>customize resumes, submit, negotiate rates, close placements.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Bench Sales Manager (Lead)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Senior Hire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85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67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Morning huddle with team (15 min)</a:t>
            </a:r>
            <a:br/>
            <a:r>
              <a:t>Review hot submissions &amp; pipeline</a:t>
            </a:r>
            <a:br/>
            <a:r>
              <a:t>Vendor relationship development</a:t>
            </a:r>
            <a:br/>
            <a:r>
              <a:t>Bench review (who's available, how long)</a:t>
            </a:r>
            <a:br/>
            <a:r>
              <a:t>Rate negotiation &amp; margin management</a:t>
            </a:r>
            <a:br/>
            <a:r>
              <a:t>Coordinate with Account Manager on shared opps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4+ yrs bench sales or account mgmt</a:t>
            </a:r>
            <a:br/>
            <a:r>
              <a:t>Existing vendor relationships preferred</a:t>
            </a:r>
            <a:br/>
            <a:r>
              <a:t>Understands MSAs, SOWs, rate cards</a:t>
            </a:r>
            <a:br/>
            <a:r>
              <a:t>Calm under pressure</a:t>
            </a:r>
            <a:br/>
            <a:r>
              <a:t>Good at objection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16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80%+ bench on billing within 30 days | &lt; 3 week velocity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3474720" cy="7772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EXAMPLE - GUIDEWIRE TECH: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 person pools ALL Guidewire jobs daily</a:t>
            </a:r>
            <a:br/>
            <a:r>
              <a:t>Bench reps submit our Guidewire consultants</a:t>
            </a:r>
            <a:br/>
            <a:r>
              <a:t>Same model for Java, Salesforce, etc.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Bench Sales Rep 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474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Intern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685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730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867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Morning: Requirement hunting (job boards,</a:t>
            </a:r>
            <a:br/>
            <a:r>
              <a:t>  vendor emails, portal checks)</a:t>
            </a:r>
            <a:br/>
            <a:r>
              <a:t>Mid-day: Match consultants to requirements,</a:t>
            </a:r>
            <a:br/>
            <a:r>
              <a:t>  customize resume, submit with cover note</a:t>
            </a:r>
            <a:br/>
            <a:r>
              <a:t>Afternoon: Chase pending, schedule interviews,</a:t>
            </a:r>
            <a:br/>
            <a:r>
              <a:t>  prep consultants</a:t>
            </a:r>
            <a:br/>
            <a:r>
              <a:t>Evening: Log all activity, flag blockers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02920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1846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2-3 yrs in bench sales</a:t>
            </a:r>
            <a:br/>
            <a:r>
              <a:t>High energy, persistent</a:t>
            </a:r>
            <a:br/>
            <a:r>
              <a:t>Good at rate negotiation</a:t>
            </a:r>
            <a:br/>
            <a:r>
              <a:t>Understands C2C, W2, 1099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76072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916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15+ submissions/day | 1+ placement/month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Bench Sales Rep #2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474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Intern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3685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3730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867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Morning: Requirement hunting (job boards,</a:t>
            </a:r>
            <a:br/>
            <a:r>
              <a:t>  vendor emails, portal checks)</a:t>
            </a:r>
            <a:br/>
            <a:r>
              <a:t>Mid-day: Match consultants to requirements,</a:t>
            </a:r>
            <a:br/>
            <a:r>
              <a:t>  customize resume, submit with cover note</a:t>
            </a:r>
            <a:br/>
            <a:r>
              <a:t>Afternoon: Chase pending, schedule interviews,</a:t>
            </a:r>
            <a:br/>
            <a:r>
              <a:t>  prep consultants</a:t>
            </a:r>
            <a:br/>
            <a:r>
              <a:t>Evening: Log all activity, flag blockers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02920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1846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2-3 yrs in bench sales</a:t>
            </a:r>
            <a:br/>
            <a:r>
              <a:t>High energy, persistent</a:t>
            </a:r>
            <a:br/>
            <a:r>
              <a:t>Good at rate negotiation</a:t>
            </a:r>
            <a:br/>
            <a:r>
              <a:t>Understands C2C, W2, 1099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76072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9161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15+ submissions/day | 1+ placement/month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TEAM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OPT Recruiting, BDM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These roles feed the other teams. OPT builds the talent pipeline, BDM wins clients, Delivery ensures success.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8754"/>
                </a:solidFill>
                <a:latin typeface="Calibri"/>
              </a:defRPr>
            </a:pPr>
            <a:r>
              <a:t>OPT Recruiter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Intern / Junior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42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Source from OPT boards, university groups</a:t>
            </a:r>
            <a:br/>
            <a:r>
              <a:t>30+ outreach messages daily</a:t>
            </a:r>
            <a:br/>
            <a:r>
              <a:t>5+ screening calls per day</a:t>
            </a:r>
            <a:br/>
            <a:r>
              <a:t>Community engagement (Discord, Slack)</a:t>
            </a:r>
            <a:br/>
            <a:r>
              <a:t>Feed qualified candidates to AM team</a:t>
            </a:r>
            <a:br/>
            <a:r>
              <a:t>Handoff training leads to Training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2+ yrs recruiting in US staffing</a:t>
            </a:r>
            <a:br/>
            <a:r>
              <a:t>Understands OPT/CPT/H1B basics</a:t>
            </a:r>
            <a:br/>
            <a:r>
              <a:t>Experience with intl student community</a:t>
            </a:r>
            <a:br/>
            <a:r>
              <a:t>Active on relevant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79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30+ outreach/day | 5+ qualified leads/week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8640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OPT RECRUITER FEEDS: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1. Training Team - candidates who need upskilling</a:t>
            </a:r>
            <a:br/>
            <a:r>
              <a:t>2. AM Team - experienced candidates ready to place</a:t>
            </a:r>
            <a:br/>
            <a:r>
              <a:t>3. Bench - graduates who join our W2 bench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Business Development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331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Senior Hire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542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587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24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10+ outbound prospecting calls/emails</a:t>
            </a:r>
            <a:br/>
            <a:r>
              <a:t>Follow up on warm leads daily</a:t>
            </a:r>
            <a:br/>
            <a:r>
              <a:t>LinkedIn networking &amp; engagement</a:t>
            </a:r>
            <a:br/>
            <a:r>
              <a:t>Vendor portal registrations</a:t>
            </a:r>
            <a:br/>
            <a:r>
              <a:t>3-5 discovery calls with prospects/week</a:t>
            </a:r>
            <a:br/>
            <a:r>
              <a:t>MSA/contract negotiations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9204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474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4+ yrs IT staffing business development</a:t>
            </a:r>
            <a:br/>
            <a:r>
              <a:t>Existing vendor relationships preferred</a:t>
            </a:r>
            <a:br/>
            <a:r>
              <a:t>Track record of closing MSAs</a:t>
            </a:r>
            <a:br/>
            <a:r>
              <a:t>Understands staffing economics</a:t>
            </a:r>
            <a:br/>
            <a:r>
              <a:t>Hunter mentality, not farmer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62356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779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2-3 vendors onboarded/month | 1-2 direct clients/quarter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548640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FDF8ED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55321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8B4A"/>
                </a:solidFill>
                <a:latin typeface="Calibri"/>
              </a:defRPr>
            </a:pPr>
            <a:r>
              <a:t>BDM FEEDS: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1. AM Team - new client accounts &amp; job orders</a:t>
            </a:r>
            <a:br/>
            <a:r>
              <a:t>2. Bench Team - vendor partnerships for submissions</a:t>
            </a:r>
            <a:br/>
            <a:r>
              <a:t>3. Training - strategic partnerships &amp; referrals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369A1"/>
                </a:solidFill>
                <a:latin typeface="Calibri"/>
              </a:defRPr>
            </a:pPr>
            <a:r>
              <a:t>Delivery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3317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37373"/>
                </a:solidFill>
                <a:latin typeface="Calibri"/>
              </a:defRPr>
            </a:pPr>
            <a:r>
              <a:t>Senior Hire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2542032"/>
            <a:ext cx="31089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587752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DAILY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724912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Check-in with active consultants (rotating)</a:t>
            </a:r>
            <a:br/>
            <a:r>
              <a:t>Monitor consultant performance signals</a:t>
            </a:r>
            <a:br/>
            <a:r>
              <a:t>Address client/consultant issues immediately</a:t>
            </a:r>
            <a:br/>
            <a:r>
              <a:t>Client satisfaction calls weekly</a:t>
            </a:r>
            <a:br/>
            <a:r>
              <a:t>Consultant 1:1s (esp first 30 days)</a:t>
            </a:r>
            <a:br/>
            <a:r>
              <a:t>Renewal pipeline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89204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WE LOOK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04748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5252"/>
                </a:solidFill>
                <a:latin typeface="Calibri"/>
              </a:defRPr>
            </a:pPr>
            <a:r>
              <a:t>3+ yrs IT staffing delivery/acct mgmt</a:t>
            </a:r>
            <a:br/>
            <a:r>
              <a:t>Strong relationship management</a:t>
            </a:r>
            <a:br/>
            <a:r>
              <a:t>Problem-solving mindset</a:t>
            </a:r>
            <a:br/>
            <a:r>
              <a:t>Managed consultants on client sites</a:t>
            </a:r>
            <a:br/>
            <a:r>
              <a:t>Calm under pressure, empathetic but firm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623560"/>
            <a:ext cx="3108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3A3A3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7790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95%+ retention | 80%+ renewal | &lt; 48hr issue resolution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548640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553212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DELIVERY ENSURES: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715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1. Consultant success (first 90 days critical)</a:t>
            </a:r>
            <a:br/>
            <a:r>
              <a:t>2. Client satisfaction (proactive check-ins)</a:t>
            </a:r>
            <a:br/>
            <a:r>
              <a:t>3. Renewals &amp; extensions (track end dates)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THE INTERN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We Scale Teams Using Interns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3A3A3"/>
                </a:solidFill>
                <a:latin typeface="Calibri"/>
              </a:defRPr>
            </a:pPr>
            <a:r>
              <a:t>Each team has ONE senior lead who trains interns. Interns become your recruiters, bench sales reps, and coordinators.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WHY THIS MODEL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3A3A3"/>
                </a:solidFill>
                <a:latin typeface="Calibri"/>
              </a:defRPr>
            </a:pPr>
            <a:r>
              <a:t>• Lower cost = we can hire more people, faster</a:t>
            </a:r>
          </a:p>
          <a:p>
            <a:pPr>
              <a:spcAft>
                <a:spcPts val="300"/>
              </a:spcAft>
              <a:defRPr sz="1100">
                <a:solidFill>
                  <a:srgbClr val="A3A3A3"/>
                </a:solidFill>
                <a:latin typeface="Calibri"/>
              </a:defRPr>
            </a:pPr>
            <a:r>
              <a:t>• Build loyalty - you trained them, they stay</a:t>
            </a:r>
          </a:p>
          <a:p>
            <a:pPr>
              <a:spcAft>
                <a:spcPts val="300"/>
              </a:spcAft>
              <a:defRPr sz="1100">
                <a:solidFill>
                  <a:srgbClr val="A3A3A3"/>
                </a:solidFill>
                <a:latin typeface="Calibri"/>
              </a:defRPr>
            </a:pPr>
            <a:r>
              <a:t>• Senior leads are accountable for pod outcomes</a:t>
            </a:r>
          </a:p>
          <a:p>
            <a:pPr>
              <a:spcAft>
                <a:spcPts val="300"/>
              </a:spcAft>
              <a:defRPr sz="1100">
                <a:solidFill>
                  <a:srgbClr val="A3A3A3"/>
                </a:solidFill>
                <a:latin typeface="Calibri"/>
              </a:defRPr>
            </a:pPr>
            <a:r>
              <a:t>• After 3 months, interns are fully productive</a:t>
            </a:r>
          </a:p>
          <a:p>
            <a:pPr>
              <a:spcAft>
                <a:spcPts val="300"/>
              </a:spcAft>
              <a:defRPr sz="1100">
                <a:solidFill>
                  <a:srgbClr val="A3A3A3"/>
                </a:solidFill>
                <a:latin typeface="Calibri"/>
              </a:defRPr>
            </a:pPr>
            <a:r>
              <a:t>• Interns who perform well get promoted to leads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INTERN PRODUCTIVITY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Learning basics, shadowing senior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07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9077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Guided work, some independent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552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25526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552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Mostly independent, senior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027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4+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6027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02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Fully productive, evaluate &amp; promote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INTERN GROWTH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709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709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Shadow senior, learn basics, 10% productive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2-3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GUIDED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Supervised work, building speed, 40-70%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349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INDEPENDENT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Full workload, meeting targets, 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Month 6+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5669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1"/>
                </a:solidFill>
                <a:latin typeface="Calibri"/>
              </a:defRPr>
            </a:pPr>
            <a:r>
              <a:t>PROMOTION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Top performers promoted to team leads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97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HIRING SEQUENCE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09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709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Trainer, Training Lead, Bench Sales Mgr, BDM (4 seniors)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017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0017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Account Manager + 2 Bench Sales Interns + OPT Recruiter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29437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52943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Delivery Mgr + 2 Recruiters + Training Sales + Coordinator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5869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5869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Full team operational, interns at 70% productivity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8795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Month 4+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8795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Evaluate: promote top interns, scale teams as needed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alibri"/>
              </a:defRPr>
            </a:pPr>
            <a:r>
              <a:t>What we look for in interns: Recent grads, hungry to learn, basic communication skills, coachable, persistent.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HIRING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Plan to Hire in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We hire seniors first. They set up systems and processes. Then we bring in interns who learn under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Foundation Hires (4 Seniors)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Trainer (Guidewire)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MOST CRITICAL. Without a great trainer, the model fails.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Training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Sets up training ops, enrollment pipeline, student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Bench Sales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Starts building vendor relationships, registers on portals.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BDM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Starts client acquisition from day 1. Discovery calls, outreach.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WHY THIS ORDER: These 4 generate revenue. Everything else supports them.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Team Leads + First Interns (4)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7744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Account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688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Leads the recruiting team. Fills client jobs BDM wins.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Bench Sales x2 (Interns)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834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First interns. Learn under Bench Sales Manager.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OPT Recruiter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200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Starts building OPT candidate pipeline for all teams.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4937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WHY THIS ORDER: Seniors have systems ready. Now we add the teams.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0233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Scale All Teams (5 People)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38912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Delivery Manager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Senior. By now first placements are landing.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2 Recruiters (Interns)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Join AM team. Account Manager has jobs ready.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Training Sales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Enrollment sales. Training Lead ready to delegate.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71717"/>
                </a:solidFill>
                <a:latin typeface="Calibri"/>
              </a:defRPr>
            </a:pPr>
            <a:r>
              <a:t>Training Coordinator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Session logistics. Trainer is running batches.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0233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Calibri"/>
              </a:defRPr>
            </a:pPr>
            <a:r>
              <a:t>MONTH 3-4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Full Team Operational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389120"/>
            <a:ext cx="49377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4805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All teams fully staffed and running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Seniors leading their teams independently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Interns at 70%+ productivity (Month 3)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First training cohort graduates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First placements generating revenue</a:t>
            </a:r>
          </a:p>
          <a:p>
            <a:pPr>
              <a:spcAft>
                <a:spcPts val="2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Evaluate: promote top interns, scale as needed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The sequence matters: Revenue-generators first, then team leads, then scale with interns.</a:t>
            </a:r>
            <a:br/>
            <a:r>
              <a:t>Every intern has a senior already in place to train and manage them.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DAILY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Every Role Has Daily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5252"/>
                </a:solidFill>
                <a:latin typeface="Calibri"/>
              </a:defRPr>
            </a:pPr>
            <a:r>
              <a:t>If you're not hitting daily numbers, you won't hit monthly targets. Track everything. Report everything.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Training 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30175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• Respond to inquiries &lt; 2 hours</a:t>
            </a:r>
            <a:br/>
            <a:r>
              <a:t>• 20+ outbound calls/messages</a:t>
            </a:r>
            <a:br/>
            <a:r>
              <a:t>• Conduct discovery calls</a:t>
            </a:r>
            <a:br/>
            <a:r>
              <a:t>• 3-5 enrollment closes/week</a:t>
            </a:r>
            <a:br/>
            <a:r>
              <a:t>• Update CRM every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92024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Recruiters (AM Team)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286000"/>
            <a:ext cx="30175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• Source from boards &amp; LinkedIn</a:t>
            </a:r>
            <a:br/>
            <a:r>
              <a:t>• 40+ outreach messages/day</a:t>
            </a:r>
            <a:br/>
            <a:r>
              <a:t>• 8+ screening calls/day</a:t>
            </a:r>
            <a:br/>
            <a:r>
              <a:t>• Submit candidates to client jobs</a:t>
            </a:r>
            <a:br/>
            <a:r>
              <a:t>• Follow up on pending 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92024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Bench Sales Reps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30175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7744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• Morning: Pool jobs by technology</a:t>
            </a:r>
            <a:br/>
            <a:r>
              <a:t>• Mid-day: Match &amp; submit (15+/day)</a:t>
            </a:r>
            <a:br/>
            <a:r>
              <a:t>• Afternoon: Follow-up &amp; prep</a:t>
            </a:r>
            <a:br/>
            <a:r>
              <a:t>• Evening: Log all activity</a:t>
            </a:r>
            <a:br/>
            <a:r>
              <a:t>• Coordinate vendor relationships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OPT Recruiter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069080"/>
            <a:ext cx="30175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• Source OPT boards &amp; universities</a:t>
            </a:r>
            <a:br/>
            <a:r>
              <a:t>• 30+ outreach messages/day</a:t>
            </a:r>
            <a:br/>
            <a:r>
              <a:t>• 5+ screening calls/day</a:t>
            </a:r>
            <a:br/>
            <a:r>
              <a:t>• Feed leads to AM &amp; Training</a:t>
            </a:r>
            <a:br/>
            <a:r>
              <a:t>• Community engagement daily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70332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BDM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069080"/>
            <a:ext cx="30175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1605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• 10+ outbound prospecting/day</a:t>
            </a:r>
            <a:br/>
            <a:r>
              <a:t>• Follow up warm leads</a:t>
            </a:r>
            <a:br/>
            <a:r>
              <a:t>• LinkedIn engagement daily</a:t>
            </a:r>
            <a:br/>
            <a:r>
              <a:t>• 3-5 discovery calls/week</a:t>
            </a:r>
            <a:br/>
            <a:r>
              <a:t>• Vendor portal registrations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70332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794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Delivery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069080"/>
            <a:ext cx="30175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1605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• Check-in active consultants</a:t>
            </a:r>
            <a:br/>
            <a:r>
              <a:t>• Monitor performance signals</a:t>
            </a:r>
            <a:br/>
            <a:r>
              <a:t>• Client satisfaction calls weekly</a:t>
            </a:r>
            <a:br/>
            <a:r>
              <a:t>• Resolve issues &lt; 48 hours</a:t>
            </a:r>
            <a:br/>
            <a:r>
              <a:t>• Renewal pipeline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Senior Leads: Morning standup (15 min), review dashboards, 1:1s weekly, quality audits, strategy with Founder.</a:t>
            </a:r>
            <a:br/>
            <a:r>
              <a:t>Everyone: Daily standup (async or sync) - What I did, what I'm doing, blockers. No exceptions.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Numbers That Matter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A8754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7627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Batch Fill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100% (9 students)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Student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249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90%+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Top Performer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63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20%+ score 90%+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02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Time to 1st Interview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6027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Within 1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41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Enrollment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41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30%+ of leads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73736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Calibri"/>
              </a:defRPr>
            </a:pPr>
            <a:r>
              <a:t>RECRUITING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217627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28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Outreach/Day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286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40+ 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724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Screening Calls/Day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249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8+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163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Qualified Leads/Week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163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8+ combined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02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Pipeline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027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80%+ convert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041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Pool Freshness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41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80%+ &lt; 30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173736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  <a:latin typeface="Calibri"/>
              </a:defRPr>
            </a:pPr>
            <a:r>
              <a:t>BENCH SALES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17627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28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Submissions/Day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2286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15+ 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724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Submit to Interview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27249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10%+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163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Interview to Offer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3163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30%+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602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Placements/Month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36027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2+ combined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041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Bench Utilization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4041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80%+ in 30 days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1737360"/>
            <a:ext cx="25603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1717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2176272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228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Client Satisfaction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22860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4.5+/5 rating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2724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Early Termination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27249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&lt; 5% 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3163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Renewal 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16382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80%+ contracts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36027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Extension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360273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50%+ extended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4041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Issue Resolution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404164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&lt; 48 hours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4937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3 CRITICAL SUCCESS METRICS (Month 3-6):</a:t>
            </a:r>
            <a:br/>
            <a:r>
              <a:t>1. Batch fill rate 100% (9 students always enrolled)  |  2. Bench placements 2+/month  |  3. Client pipeline growing every week</a:t>
            </a:r>
            <a:br/>
            <a:r>
              <a:t>If we hit these three, everything else follows. Miss them, and we have a problem.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Tools, Rituals &amp;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4688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Slack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Real-time communication.</a:t>
            </a:r>
            <a:br/>
            <a:r>
              <a:t>Daily updates, quick questions.</a:t>
            </a:r>
            <a:br/>
            <a:r>
              <a:t>Respond same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24688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664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01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Project Mgmt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Task &amp; project tracking.</a:t>
            </a:r>
            <a:br/>
            <a:r>
              <a:t>All work starts with a ticket.</a:t>
            </a:r>
            <a:br/>
            <a:r>
              <a:t>Track progress daily.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24688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64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InTime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01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1488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Our own staffing software.</a:t>
            </a:r>
            <a:br/>
            <a:r>
              <a:t>CRM, ATS, Bench tracking.</a:t>
            </a:r>
            <a:br/>
            <a:r>
              <a:t>Use it for all operations.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554480"/>
            <a:ext cx="24688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664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Google Workspace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019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1"/>
                </a:solidFill>
                <a:latin typeface="Calibri"/>
              </a:defRPr>
            </a:pPr>
            <a:r>
              <a:t>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488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25252"/>
                </a:solidFill>
                <a:latin typeface="Calibri"/>
              </a:defRPr>
            </a:pPr>
            <a:r>
              <a:t>Email, Docs, Sheets, Calendar.</a:t>
            </a:r>
            <a:br/>
            <a:r>
              <a:t>External communication.</a:t>
            </a:r>
            <a:br/>
            <a:r>
              <a:t>Document everything.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RITUALS &amp; CADENCES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Daily Standup (15 min): What I did, what I'm doing, blockers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Weekly Team Sync (30-60 min): Progress, priorities, blockers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Weekly 1:1 with Manager (30 min): Coaching, feedback, support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Bi-Weekly Sprint Planning: Next 2 weeks of work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Monthly All Hands (60 min): Company updates, wins, learnings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Monthly Metrics Review: How we're doing against targets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Quarterly OKR Setting: Goals for next quarter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1717"/>
                </a:solidFill>
                <a:latin typeface="Calibri"/>
              </a:defRPr>
            </a:pPr>
            <a:r>
              <a:t>COMMUNICATION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118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Over-communicate context. Assume others don't know.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Be explicit: FYI vs Need by EOD vs Blocking.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Close the loop: Acknowledge, respond, resolve.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Bad news travels fast. Good news can wait.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Escalate early, never late. Flag blockers immediately.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If it wasn't written down, it didn't happen.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Disagree openly, commit fully, follow through completely.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What I Expect From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25252"/>
                </a:solidFill>
                <a:latin typeface="Calibri"/>
              </a:defRPr>
            </a:pPr>
            <a:r>
              <a:t>I have limited time. You are my hands. This is what matters to 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F0F9F4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8754"/>
                </a:solidFill>
                <a:latin typeface="Calibri"/>
              </a:defRPr>
            </a:pPr>
            <a: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Take ownership - see problem, fix it or flag it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Hit daily numbers - every role has daily targets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Communicate proactively - done, blocked, need help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Ask questions early - don't wait days when stuck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Follow SOPs and processes - they exist for a reason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Track everything in the system - no mental notes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Be accountable - own results, good or bad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Learn fast - US staffing is learn-on-the-job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Build relationships - candidates, clients, team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✔ Think like an owner - this is OUR company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03520" cy="420624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Calibri"/>
              </a:defRPr>
            </a:pPr>
            <a: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wait to be told what to do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hide bad news - share it immediately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skip logging activity in CRM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make promises you can't keep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blame others - own the outcome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go silent - over-communicate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cut corners on quality</a:t>
            </a:r>
          </a:p>
          <a:p>
            <a:pPr>
              <a:spcAft>
                <a:spcPts val="300"/>
              </a:spcAft>
              <a:defRPr sz="1100">
                <a:solidFill>
                  <a:srgbClr val="404040"/>
                </a:solidFill>
                <a:latin typeface="Calibri"/>
              </a:defRPr>
            </a:pPr>
            <a:r>
              <a:t>✘ Don't treat this as just a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OPERATIONS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 Expect From My Operations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3A3A3"/>
                </a:solidFill>
                <a:latin typeface="Calibri"/>
              </a:defRPr>
            </a:pPr>
            <a:r>
              <a:t>You are my right hand. When I'm not available, you keep things running. Here's what that means.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Be My Eyes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Know what's happening</a:t>
            </a:r>
            <a:br/>
            <a:r>
              <a:t>across every team, every day.</a:t>
            </a:r>
            <a:br/>
            <a:r>
              <a:t>I should never be surprised.</a:t>
            </a:r>
            <a:br/>
            <a:r>
              <a:t>You see everything before I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Daily dashboard review + summary to 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1031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Keep People Accountable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Track daily activity numbers.</a:t>
            </a:r>
            <a:br/>
            <a:r>
              <a:t>Follow up on missed targets.</a:t>
            </a:r>
            <a:br/>
            <a:r>
              <a:t>Escalate before things break.</a:t>
            </a:r>
            <a:br/>
            <a:r>
              <a:t>No one should coast on your watch.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Weekly performance report per person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10312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Run the Cadences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Own daily standups, weekly syncs.</a:t>
            </a:r>
            <a:br/>
            <a:r>
              <a:t>Make sure meetings happen.</a:t>
            </a:r>
            <a:br/>
            <a:r>
              <a:t>Capture action items and follow up.</a:t>
            </a:r>
            <a:br/>
            <a:r>
              <a:t>Rituals don't run themselves.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474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100% meeting completion, notes shared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Handle the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Student onboarding, session logistics,</a:t>
            </a:r>
            <a:br/>
            <a:r>
              <a:t>timesheet tracking, vendor paperwork.</a:t>
            </a:r>
            <a:br/>
            <a:r>
              <a:t>Invoicing, payments, compliance.</a:t>
            </a:r>
            <a:br/>
            <a:r>
              <a:t>Nothing falls through the cracks.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Zero missed deadlines or payments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97764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4069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Solve Before Escalating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343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Try to fix it yourself first.</a:t>
            </a:r>
            <a:br/>
            <a:r>
              <a:t>Bring solutions, not just problems.</a:t>
            </a:r>
            <a:br/>
            <a:r>
              <a:t>When you escalate, give me context</a:t>
            </a:r>
            <a:br/>
            <a:r>
              <a:t>and your recommendation.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80% resolved without escalation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977640"/>
            <a:ext cx="3383280" cy="17373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40690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Calibri"/>
              </a:defRPr>
            </a:pPr>
            <a:r>
              <a:t>Build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343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Create checklists, templates, SOPs.</a:t>
            </a:r>
            <a:br/>
            <a:r>
              <a:t>Document processes so anyone can follow.</a:t>
            </a:r>
            <a:br/>
            <a:r>
              <a:t>Automate what's repetitive.</a:t>
            </a:r>
            <a:br/>
            <a:r>
              <a:t>Make the operation run without you.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3492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A8754"/>
                </a:solidFill>
                <a:latin typeface="Calibri"/>
              </a:defRPr>
            </a:pPr>
            <a:r>
              <a:t>Everything documented and repeatable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Bottom line: If the operation runs smoothly without me checking in every hour, you're doing your job.</a:t>
            </a:r>
            <a:br/>
            <a:r>
              <a:t>If I have to ask 'what's happening?' - something is wrong.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YOUR FIRST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From Learning to Leading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468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alibri"/>
              </a:defRPr>
            </a:pPr>
            <a:r>
              <a:t>Days 1-7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556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369A1"/>
                </a:solidFill>
                <a:latin typeface="Calibri"/>
              </a:defRPr>
            </a:pPr>
            <a:r>
              <a:t>ONBOARD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Learn the Basics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59152"/>
            <a:ext cx="21031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HR paperwork, system access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Read Company Bible cover to cover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Meet team lead and all team members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Read US IT Staffing 101 guide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Understand the 7 funnels model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Shadow team members in daily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468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alibri"/>
              </a:defRPr>
            </a:pPr>
            <a:r>
              <a:t>Days 8-30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556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A8754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29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Understand Business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59152"/>
            <a:ext cx="21031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Complete role-specific handbook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Observe 5+ real work scenarios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Practice tasks with supervision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Daily check-in with manager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Complete first tasks independently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30-day review with 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645920"/>
            <a:ext cx="2468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alibri"/>
              </a:defRPr>
            </a:pPr>
            <a:r>
              <a:t>Days 31-60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7556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9A961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29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Start Contributing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59152"/>
            <a:ext cx="21031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4688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Handle 80% of tasks independently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Carry increasing workload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Solve problems before escalating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Suggest process improvements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Build cross-functional relationships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60-day review: set Month 3 goals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1645920"/>
            <a:ext cx="24688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alibri"/>
              </a:defRPr>
            </a:pPr>
            <a:r>
              <a:t>Days 61-90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17556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71717"/>
                </a:solidFill>
                <a:latin typeface="Calibri"/>
              </a:defRPr>
            </a:pPr>
            <a:r>
              <a:t>PERFORM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029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1717"/>
                </a:solidFill>
                <a:latin typeface="Calibri"/>
              </a:defRPr>
            </a:pPr>
            <a:r>
              <a:t>Work Independently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400" y="2359152"/>
            <a:ext cx="210312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4688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Meet or exceed your role's KPIs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No supervision needed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Mentor newer team members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Take on stretch assignments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Lead small improvement projects</a:t>
            </a:r>
          </a:p>
          <a:p>
            <a:pPr>
              <a:spcAft>
                <a:spcPts val="300"/>
              </a:spcAft>
              <a:defRPr sz="1000">
                <a:solidFill>
                  <a:srgbClr val="525252"/>
                </a:solidFill>
                <a:latin typeface="Calibri"/>
              </a:defRPr>
            </a:pPr>
            <a:r>
              <a:t>• 90-day review: career dev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By Month 4, interns reach 100% productivity. We evaluate: retain, promote, or replace.</a:t>
            </a:r>
            <a:br/>
            <a:r>
              <a:t>Your first 90 days determine your trajectory. Invest in learning now - it compounds.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3A3A3"/>
                </a:solidFill>
                <a:latin typeface="Calibri"/>
              </a:defRPr>
            </a:pPr>
            <a:r>
              <a:t>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71717"/>
                </a:solidFill>
                <a:latin typeface="Calibri"/>
              </a:defRPr>
            </a:pPr>
            <a:r>
              <a:t>What Good Looks Like at Day 30, 60, 90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Recruiters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10 candidates sourced/week</a:t>
            </a:r>
            <a:br/>
            <a:r>
              <a:t>3 screens/week</a:t>
            </a:r>
            <a:br/>
            <a:r>
              <a:t>Understand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Day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25 candidates sourced/week</a:t>
            </a:r>
            <a:br/>
            <a:r>
              <a:t>10 screens/week</a:t>
            </a:r>
            <a:br/>
            <a:r>
              <a:t>Execute independently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50 candidates sourced/week</a:t>
            </a:r>
            <a:br/>
            <a:r>
              <a:t>15+ screens/week</a:t>
            </a:r>
            <a:br/>
            <a:r>
              <a:t>Improve process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64592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556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Account Managers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057400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1488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Know all clients</a:t>
            </a:r>
            <a:br/>
            <a:r>
              <a:t>1 submission/week</a:t>
            </a:r>
            <a:br/>
            <a:r>
              <a:t>Understand client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017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Day 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Manage 2-3 clients</a:t>
            </a:r>
            <a:br/>
            <a:r>
              <a:t>5 submissions/week</a:t>
            </a:r>
            <a:br/>
            <a:r>
              <a:t>Build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886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069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Full client load</a:t>
            </a:r>
            <a:br/>
            <a:r>
              <a:t>10+ submissions/week</a:t>
            </a:r>
            <a:br/>
            <a:r>
              <a:t>Grow accounts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164592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7556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Bench Sales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057400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1488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Know all consultants</a:t>
            </a:r>
            <a:br/>
            <a:r>
              <a:t>10 vendor contacts</a:t>
            </a:r>
            <a:br/>
            <a:r>
              <a:t>Understand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017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Day 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Active marketing</a:t>
            </a:r>
            <a:br/>
            <a:r>
              <a:t>30+ vendor relationships</a:t>
            </a:r>
            <a:br/>
            <a:r>
              <a:t>Execute daily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886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069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1+ placement/month</a:t>
            </a:r>
            <a:br/>
            <a:r>
              <a:t>Consistent placements</a:t>
            </a:r>
            <a:br/>
            <a:r>
              <a:t>Optimize process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164592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17556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1717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057400"/>
            <a:ext cx="2194560" cy="18288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21488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369A1"/>
                </a:solidFill>
                <a:latin typeface="Calibri"/>
              </a:defRPr>
            </a:pPr>
            <a:r>
              <a:t>Day 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Know all processes</a:t>
            </a:r>
            <a:br/>
            <a:r>
              <a:t>Minimal errors</a:t>
            </a:r>
            <a:br/>
            <a:r>
              <a:t>Supervised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3017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Calibri"/>
              </a:defRPr>
            </a:pPr>
            <a:r>
              <a:t>Day 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Handle routine tasks</a:t>
            </a:r>
            <a:br/>
            <a:r>
              <a:t>Quality work</a:t>
            </a:r>
            <a:br/>
            <a:r>
              <a:t>Mostly independent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886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8754"/>
                </a:solidFill>
                <a:latin typeface="Calibri"/>
              </a:defRPr>
            </a:pPr>
            <a:r>
              <a:t>Day 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0690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25252"/>
                </a:solidFill>
                <a:latin typeface="Calibri"/>
              </a:defRPr>
            </a:pPr>
            <a:r>
              <a:t>Full ownership</a:t>
            </a:r>
            <a:br/>
            <a:r>
              <a:t>Process improvements</a:t>
            </a:r>
            <a:br/>
            <a:r>
              <a:t>Fully independent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37373"/>
                </a:solidFill>
                <a:latin typeface="Calibri"/>
              </a:defRPr>
            </a:pPr>
            <a:r>
              <a:t>Performance = IMPACT, not hours. What you accomplished &gt; how long you sat at your desk.</a:t>
            </a:r>
            <a:br/>
            <a:r>
              <a:t>Check-ins: Daily (Week 1) | Weekly (Month 1) | Bi-weekly (Month 2) | Monthly (Month 3+)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37373"/>
                </a:solidFill>
                <a:latin typeface="Calibri"/>
              </a:defRPr>
            </a:pPr>
            <a:r>
              <a:t>RESOURCES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Essential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Company Bible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Values, culture, how we work, hire,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7 funnels, roles, accountability,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Phase 1 Ops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16-person team, daily activities, financials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Financial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Revenue, unit economics, P&amp;L, break-even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First 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Your onboarding roadmap day-by-day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US IT Staffing 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Industry basics, visa types, terminology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961"/>
                </a:solidFill>
                <a:latin typeface="Calibri"/>
              </a:defRPr>
            </a:pPr>
            <a:r>
              <a:t>Your Role Handbook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SOPs and expectations for your 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Your Growth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1600200"/>
            <a:ext cx="4572000" cy="1005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6733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Month 1-3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67335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369A1"/>
                </a:solidFill>
                <a:latin typeface="Calibri"/>
              </a:defRPr>
            </a:pPr>
            <a:r>
              <a:t>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94767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Learn the ropes, shadow seniors,</a:t>
            </a:r>
            <a:br/>
            <a:r>
              <a:t>hit basic daily activity targets.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697480"/>
            <a:ext cx="4572000" cy="1005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770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Month 4-6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70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A8754"/>
                </a:solidFill>
                <a:latin typeface="Calibri"/>
              </a:defRPr>
            </a:pPr>
            <a:r>
              <a:t>PRODUCTIVE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04495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Fully independent, meeting KPIs,</a:t>
            </a:r>
            <a:br/>
            <a:r>
              <a:t>carry full workload, prove yourself.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794760"/>
            <a:ext cx="4572000" cy="1005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8679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Month 7-12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8679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C9A961"/>
                </a:solidFill>
                <a:latin typeface="Calibri"/>
              </a:defRPr>
            </a:pPr>
            <a:r>
              <a:t>TEAM PLAYER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4223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Exceed targets, help newer members,</a:t>
            </a:r>
            <a:br/>
            <a:r>
              <a:t>earn promotion based on performance.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892040"/>
            <a:ext cx="4572000" cy="10058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9651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3A3A3"/>
                </a:solidFill>
                <a:latin typeface="Calibri"/>
              </a:defRPr>
            </a:pPr>
            <a:r>
              <a:t>Year 2+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651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FUTURE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3951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3A3A3"/>
                </a:solidFill>
                <a:latin typeface="Calibri"/>
              </a:defRPr>
            </a:pPr>
            <a:r>
              <a:t>Lead a pod of interns yourself,</a:t>
            </a:r>
            <a:br/>
            <a:r>
              <a:t>own a function end-to-end.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alibri"/>
              </a:defRPr>
            </a:pPr>
            <a:r>
              <a:t>All documents are in docs/functional/ directory. Your manager will guide you through them.</a:t>
            </a:r>
            <a:br/>
            <a:r>
              <a:t>Performance is rewarded. Top performers get promoted and earn more responsibility.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Calibri"/>
              </a:defRPr>
            </a:pPr>
            <a:r>
              <a:t>"The recruiter recruits.</a:t>
            </a:r>
            <a:br/>
            <a:r>
              <a:t>The account manager manages accounts.</a:t>
            </a:r>
            <a:br/>
            <a:r>
              <a:t>The operator handles exceptions.</a:t>
            </a:r>
            <a:br/>
            <a:r>
              <a:t>Everyone does their actual job.</a:t>
            </a:r>
            <a:br/>
            <a:r>
              <a:t>Nobody fights the software."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961"/>
                </a:solidFill>
                <a:latin typeface="Calibri"/>
              </a:defRPr>
            </a:pPr>
            <a:r>
              <a:t>- The InTime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You're joining at the right time.</a:t>
            </a:r>
            <a:br/>
            <a:r>
              <a:t>The model is clear. The team is forming.</a:t>
            </a:r>
            <a:br/>
            <a:r>
              <a:t>Now we need people who will execute.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3A3A3"/>
                </a:solidFill>
                <a:latin typeface="Calibri"/>
              </a:defRPr>
            </a:pPr>
            <a:r>
              <a:t>Your commitment + our system = success for everyone.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760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37373"/>
                </a:solidFill>
                <a:latin typeface="Calibri"/>
              </a:defRPr>
            </a:pPr>
            <a:r>
              <a:t>I N T I M E  |  US IT Staffing  |  Hyderabad Operations  |  February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3A3A3"/>
                </a:solidFill>
                <a:latin typeface="Calibr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